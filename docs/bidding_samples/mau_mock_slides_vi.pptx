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28016" cy="2016759"/>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554480"/>
            <a:ext cx="10058400" cy="1193800"/>
          </a:xfrm>
          <a:prstGeom prst="rect">
            <a:avLst/>
          </a:prstGeom>
          <a:noFill/>
        </p:spPr>
        <p:txBody>
          <a:bodyPr wrap="square">
            <a:spAutoFit/>
          </a:bodyPr>
          <a:lstStyle/>
          <a:p>
            <a:r>
              <a:rPr sz="3200" b="1">
                <a:solidFill>
                  <a:srgbClr val="FFFFFF"/>
                </a:solidFill>
                <a:latin typeface="Arial"/>
              </a:rPr>
              <a:t>Đề xuất sơ bộ: Trợ lý hỏi đáp quy định nội bộ</a:t>
            </a:r>
          </a:p>
        </p:txBody>
      </p:sp>
      <p:sp>
        <p:nvSpPr>
          <p:cNvPr id="5" name="TextBox 4"/>
          <p:cNvSpPr txBox="1"/>
          <p:nvPr/>
        </p:nvSpPr>
        <p:spPr>
          <a:xfrm>
            <a:off x="1069848" y="3022600"/>
            <a:ext cx="9601200" cy="914400"/>
          </a:xfrm>
          <a:prstGeom prst="rect">
            <a:avLst/>
          </a:prstGeom>
          <a:noFill/>
        </p:spPr>
        <p:txBody>
          <a:bodyPr wrap="square">
            <a:spAutoFit/>
          </a:bodyPr>
          <a:lstStyle/>
          <a:p>
            <a:r>
              <a:rPr sz="1700" b="0">
                <a:solidFill>
                  <a:srgbClr val="C9CED9"/>
                </a:solidFill>
                <a:latin typeface="Arial"/>
              </a:rPr>
              <a:t>Xây trợ lý hỏi đáp quy định nội bộ để nhân viên tra cứu nhanh, giảm tải cho phòng pháp chế.</a:t>
            </a:r>
          </a:p>
        </p:txBody>
      </p:sp>
      <p:sp>
        <p:nvSpPr>
          <p:cNvPr id="6" name="TextBox 5"/>
          <p:cNvSpPr txBox="1"/>
          <p:nvPr/>
        </p:nvSpPr>
        <p:spPr>
          <a:xfrm>
            <a:off x="1069848" y="5120640"/>
            <a:ext cx="9144000" cy="365760"/>
          </a:xfrm>
          <a:prstGeom prst="rect">
            <a:avLst/>
          </a:prstGeom>
          <a:noFill/>
        </p:spPr>
        <p:txBody>
          <a:bodyPr wrap="square">
            <a:spAutoFit/>
          </a:bodyPr>
          <a:lstStyle/>
          <a:p>
            <a:r>
              <a:rPr sz="1300" b="0">
                <a:solidFill>
                  <a:srgbClr val="FFB27F"/>
                </a:solidFill>
                <a:latin typeface="Arial"/>
              </a:rPr>
              <a:t>2026-10-05 · Bản nháp – cần AI dev duyệt trước khi gửi khách</a:t>
            </a:r>
          </a:p>
        </p:txBody>
      </p:sp>
      <p:sp>
        <p:nvSpPr>
          <p:cNvPr id="7" name="TextBox 6"/>
          <p:cNvSpPr txBox="1"/>
          <p:nvPr/>
        </p:nvSpPr>
        <p:spPr>
          <a:xfrm>
            <a:off x="1069848" y="6035040"/>
            <a:ext cx="5486400" cy="365760"/>
          </a:xfrm>
          <a:prstGeom prst="rect">
            <a:avLst/>
          </a:prstGeom>
          <a:noFill/>
        </p:spPr>
        <p:txBody>
          <a:bodyPr wrap="square">
            <a:spAutoFit/>
          </a:bodyPr>
          <a:lstStyle/>
          <a:p>
            <a:r>
              <a:rPr sz="1100" b="0">
                <a:solidFill>
                  <a:srgbClr val="6C7591"/>
                </a:solidFill>
                <a:latin typeface="Arial"/>
              </a:rPr>
              <a:t>Tạo bởi ScopeAI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Về ABC</a:t>
            </a:r>
          </a:p>
        </p:txBody>
      </p:sp>
      <p:sp>
        <p:nvSpPr>
          <p:cNvPr id="4" name="TextBox 3"/>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5" name="TextBox 4"/>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2</a:t>
            </a:r>
          </a:p>
        </p:txBody>
      </p:sp>
      <p:sp>
        <p:nvSpPr>
          <p:cNvPr id="6" name="Rectangle 5"/>
          <p:cNvSpPr/>
          <p:nvPr/>
        </p:nvSpPr>
        <p:spPr>
          <a:xfrm>
            <a:off x="685800" y="1371600"/>
            <a:ext cx="73152" cy="1371600"/>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280160"/>
            <a:ext cx="10424160" cy="4754880"/>
          </a:xfrm>
          <a:prstGeom prst="rect">
            <a:avLst/>
          </a:prstGeom>
          <a:noFill/>
        </p:spPr>
        <p:txBody>
          <a:bodyPr wrap="square">
            <a:spAutoFit/>
          </a:bodyPr>
          <a:lstStyle/>
          <a:p>
            <a:pPr>
              <a:spcAft>
                <a:spcPts val="1400"/>
              </a:spcAft>
            </a:pPr>
            <a:r>
              <a:rPr sz="1700" b="0">
                <a:solidFill>
                  <a:srgbClr val="0C111D"/>
                </a:solidFill>
                <a:latin typeface="Arial"/>
              </a:rPr>
              <a:t>Công ty ABC (mẫu) là đơn vị cung cấp dịch vụ phát triển phần mềm và giải pháp AI (nội dung mẫu).</a:t>
            </a:r>
          </a:p>
          <a:p>
            <a:pPr>
              <a:spcAft>
                <a:spcPts val="1400"/>
              </a:spcAft>
            </a:pPr>
            <a:r>
              <a:rPr sz="1700" b="0">
                <a:solidFill>
                  <a:srgbClr val="0C111D"/>
                </a:solidFill>
                <a:latin typeface="Arial"/>
              </a:rPr>
              <a:t>Đội ngũ chuyên gia AI, dữ liệu và kỹ sư phần mềm phục vụ khách hàng tại Việt Nam, Nhật Bản và quốc tế.</a:t>
            </a:r>
          </a:p>
          <a:p>
            <a:pPr>
              <a:spcAft>
                <a:spcPts val="1400"/>
              </a:spcAft>
            </a:pPr>
            <a:r>
              <a:rPr sz="1700" b="0">
                <a:solidFill>
                  <a:srgbClr val="0C111D"/>
                </a:solidFill>
                <a:latin typeface="Arial"/>
              </a:rPr>
              <a:t>Thay đoạn này bằng giới thiệu chính thức của công 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Bối cảnh &amp; mục tiêu</a:t>
            </a:r>
          </a:p>
        </p:txBody>
      </p:sp>
      <p:sp>
        <p:nvSpPr>
          <p:cNvPr id="4" name="TextBox 3"/>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5" name="TextBox 4"/>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3</a:t>
            </a:r>
          </a:p>
        </p:txBody>
      </p:sp>
      <p:sp>
        <p:nvSpPr>
          <p:cNvPr id="6" name="TextBox 5"/>
          <p:cNvSpPr txBox="1"/>
          <p:nvPr/>
        </p:nvSpPr>
        <p:spPr>
          <a:xfrm>
            <a:off x="685800" y="1234440"/>
            <a:ext cx="10789920" cy="914400"/>
          </a:xfrm>
          <a:prstGeom prst="rect">
            <a:avLst/>
          </a:prstGeom>
          <a:noFill/>
        </p:spPr>
        <p:txBody>
          <a:bodyPr wrap="square">
            <a:spAutoFit/>
          </a:bodyPr>
          <a:lstStyle/>
          <a:p>
            <a:r>
              <a:rPr sz="2000" b="1">
                <a:solidFill>
                  <a:srgbClr val="0C111D"/>
                </a:solidFill>
                <a:latin typeface="Arial"/>
              </a:rPr>
              <a:t>Xây trợ lý hỏi đáp quy định nội bộ để nhân viên tra cứu nhanh, giảm tải cho phòng pháp chế.</a:t>
            </a:r>
          </a:p>
        </p:txBody>
      </p:sp>
      <p:graphicFrame>
        <p:nvGraphicFramePr>
          <p:cNvPr id="7" name="Table 6"/>
          <p:cNvGraphicFramePr>
            <a:graphicFrameLocks noGrp="1"/>
          </p:cNvGraphicFramePr>
          <p:nvPr/>
        </p:nvGraphicFramePr>
        <p:xfrm>
          <a:off x="685800" y="2377440"/>
          <a:ext cx="10789920" cy="2194560"/>
        </p:xfrm>
        <a:graphic>
          <a:graphicData uri="http://schemas.openxmlformats.org/drawingml/2006/table">
            <a:tbl>
              <a:tblPr firstRow="1" bandRow="1">
                <a:tableStyleId>{5C22544A-7EE6-4342-B048-85BDC9FD1C3A}</a:tableStyleId>
              </a:tblPr>
              <a:tblGrid>
                <a:gridCol w="2743200"/>
                <a:gridCol w="8046720"/>
              </a:tblGrid>
              <a:tr h="365760">
                <a:tc>
                  <a:txBody>
                    <a:bodyPr/>
                    <a:lstStyle/>
                    <a:p>
                      <a:r>
                        <a:rPr sz="1300" b="1">
                          <a:solidFill>
                            <a:srgbClr val="FFFFFF"/>
                          </a:solidFill>
                          <a:latin typeface="Arial"/>
                        </a:rPr>
                        <a:t>Hạng mục</a:t>
                      </a:r>
                    </a:p>
                  </a:txBody>
                  <a:tcPr marT="36576" marB="36576">
                    <a:solidFill>
                      <a:srgbClr val="F26F21"/>
                    </a:solidFill>
                  </a:tcPr>
                </a:tc>
                <a:tc>
                  <a:txBody>
                    <a:bodyPr/>
                    <a:lstStyle/>
                    <a:p>
                      <a:r>
                        <a:rPr sz="1300" b="1">
                          <a:solidFill>
                            <a:srgbClr val="FFFFFF"/>
                          </a:solidFill>
                          <a:latin typeface="Arial"/>
                        </a:rPr>
                        <a:t>Thông tin</a:t>
                      </a:r>
                    </a:p>
                  </a:txBody>
                  <a:tcPr marT="36576" marB="36576">
                    <a:solidFill>
                      <a:srgbClr val="F26F21"/>
                    </a:solidFill>
                  </a:tcPr>
                </a:tc>
              </a:tr>
              <a:tr h="365760">
                <a:tc>
                  <a:txBody>
                    <a:bodyPr/>
                    <a:lstStyle/>
                    <a:p>
                      <a:r>
                        <a:rPr sz="1300" b="0">
                          <a:solidFill>
                            <a:srgbClr val="0C111D"/>
                          </a:solidFill>
                          <a:latin typeface="Arial"/>
                        </a:rPr>
                        <a:t>Quy trình hiện tại</a:t>
                      </a:r>
                    </a:p>
                  </a:txBody>
                  <a:tcPr marT="36576" marB="36576">
                    <a:solidFill>
                      <a:srgbClr val="FFFFFF"/>
                    </a:solidFill>
                  </a:tcPr>
                </a:tc>
                <a:tc>
                  <a:txBody>
                    <a:bodyPr/>
                    <a:lstStyle/>
                    <a:p>
                      <a:r>
                        <a:rPr sz="1300" b="0">
                          <a:solidFill>
                            <a:srgbClr val="0C111D"/>
                          </a:solidFill>
                          <a:latin typeface="Arial"/>
                        </a:rPr>
                        <a:t>Nhân viên gửi email hỏi phòng pháp chế, trung bình 2 ngày mới có phản hồi.</a:t>
                      </a:r>
                    </a:p>
                  </a:txBody>
                  <a:tcPr marT="36576" marB="36576">
                    <a:solidFill>
                      <a:srgbClr val="FFFFFF"/>
                    </a:solidFill>
                  </a:tcPr>
                </a:tc>
              </a:tr>
              <a:tr h="365760">
                <a:tc>
                  <a:txBody>
                    <a:bodyPr/>
                    <a:lstStyle/>
                    <a:p>
                      <a:r>
                        <a:rPr sz="1300" b="0">
                          <a:solidFill>
                            <a:srgbClr val="0C111D"/>
                          </a:solidFill>
                          <a:latin typeface="Arial"/>
                        </a:rPr>
                        <a:t>Người dùng</a:t>
                      </a:r>
                    </a:p>
                  </a:txBody>
                  <a:tcPr marT="36576" marB="36576">
                    <a:solidFill>
                      <a:srgbClr val="F5F5F4"/>
                    </a:solidFill>
                  </a:tcPr>
                </a:tc>
                <a:tc>
                  <a:txBody>
                    <a:bodyPr/>
                    <a:lstStyle/>
                    <a:p>
                      <a:r>
                        <a:rPr sz="1300" b="0">
                          <a:solidFill>
                            <a:srgbClr val="0C111D"/>
                          </a:solidFill>
                          <a:latin typeface="Arial"/>
                        </a:rPr>
                        <a:t>Nhân viên chi nhánh, Phòng pháp chế</a:t>
                      </a:r>
                    </a:p>
                  </a:txBody>
                  <a:tcPr marT="36576" marB="36576">
                    <a:solidFill>
                      <a:srgbClr val="F5F5F4"/>
                    </a:solidFill>
                  </a:tcPr>
                </a:tc>
              </a:tr>
              <a:tr h="365760">
                <a:tc>
                  <a:txBody>
                    <a:bodyPr/>
                    <a:lstStyle/>
                    <a:p>
                      <a:r>
                        <a:rPr sz="1300" b="0">
                          <a:solidFill>
                            <a:srgbClr val="0C111D"/>
                          </a:solidFill>
                          <a:latin typeface="Arial"/>
                        </a:rPr>
                        <a:t>Nguồn dữ liệu</a:t>
                      </a:r>
                    </a:p>
                  </a:txBody>
                  <a:tcPr marT="36576" marB="36576">
                    <a:solidFill>
                      <a:srgbClr val="FFFFFF"/>
                    </a:solidFill>
                  </a:tcPr>
                </a:tc>
                <a:tc>
                  <a:txBody>
                    <a:bodyPr/>
                    <a:lstStyle/>
                    <a:p>
                      <a:r>
                        <a:rPr sz="1300" b="0">
                          <a:solidFill>
                            <a:srgbClr val="0C111D"/>
                          </a:solidFill>
                          <a:latin typeface="Arial"/>
                        </a:rPr>
                        <a:t>Khoảng 800 văn bản quy định nội bộ dạng Word và PDF</a:t>
                      </a:r>
                    </a:p>
                  </a:txBody>
                  <a:tcPr marT="36576" marB="36576">
                    <a:solidFill>
                      <a:srgbClr val="FFFFFF"/>
                    </a:solidFill>
                  </a:tcPr>
                </a:tc>
              </a:tr>
              <a:tr h="365760">
                <a:tc>
                  <a:txBody>
                    <a:bodyPr/>
                    <a:lstStyle/>
                    <a:p>
                      <a:r>
                        <a:rPr sz="1300" b="0">
                          <a:solidFill>
                            <a:srgbClr val="0C111D"/>
                          </a:solidFill>
                          <a:latin typeface="Arial"/>
                        </a:rPr>
                        <a:t>Ràng buộc</a:t>
                      </a:r>
                    </a:p>
                  </a:txBody>
                  <a:tcPr marT="36576" marB="36576">
                    <a:solidFill>
                      <a:srgbClr val="F5F5F4"/>
                    </a:solidFill>
                  </a:tcPr>
                </a:tc>
                <a:tc>
                  <a:txBody>
                    <a:bodyPr/>
                    <a:lstStyle/>
                    <a:p>
                      <a:r>
                        <a:rPr sz="1300" b="0">
                          <a:solidFill>
                            <a:srgbClr val="0C111D"/>
                          </a:solidFill>
                          <a:latin typeface="Arial"/>
                        </a:rPr>
                        <a:t>vietnamese_ui, cloud_allowed</a:t>
                      </a:r>
                    </a:p>
                  </a:txBody>
                  <a:tcPr marT="36576" marB="36576">
                    <a:solidFill>
                      <a:srgbClr val="F5F5F4"/>
                    </a:solidFill>
                  </a:tcPr>
                </a:tc>
              </a:tr>
              <a:tr h="365760">
                <a:tc>
                  <a:txBody>
                    <a:bodyPr/>
                    <a:lstStyle/>
                    <a:p>
                      <a:r>
                        <a:rPr sz="1300" b="0">
                          <a:solidFill>
                            <a:srgbClr val="0C111D"/>
                          </a:solidFill>
                          <a:latin typeface="Arial"/>
                        </a:rPr>
                        <a:t>Ngân sách / Thời hạn</a:t>
                      </a:r>
                    </a:p>
                  </a:txBody>
                  <a:tcPr marT="36576" marB="36576">
                    <a:solidFill>
                      <a:srgbClr val="FFFFFF"/>
                    </a:solidFill>
                  </a:tcPr>
                </a:tc>
                <a:tc>
                  <a:txBody>
                    <a:bodyPr/>
                    <a:lstStyle/>
                    <a:p>
                      <a:r>
                        <a:rPr sz="1300" b="0">
                          <a:solidFill>
                            <a:srgbClr val="0C111D"/>
                          </a:solidFill>
                          <a:latin typeface="Arial"/>
                        </a:rPr>
                        <a:t>Chưa rõ / Muốn có bản thử trong 2 tháng</a:t>
                      </a:r>
                    </a:p>
                  </a:txBody>
                  <a:tcPr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Tài liệu &amp; dữ liệu khách cung cấp</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Được phân tích bằng code trước khi đưa vào agent</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4</a:t>
            </a:r>
          </a:p>
        </p:txBody>
      </p:sp>
      <p:sp>
        <p:nvSpPr>
          <p:cNvPr id="7" name="TextBox 6"/>
          <p:cNvSpPr txBox="1"/>
          <p:nvPr/>
        </p:nvSpPr>
        <p:spPr>
          <a:xfrm>
            <a:off x="685800" y="1371600"/>
            <a:ext cx="10789920" cy="2743200"/>
          </a:xfrm>
          <a:prstGeom prst="rect">
            <a:avLst/>
          </a:prstGeom>
          <a:noFill/>
        </p:spPr>
        <p:txBody>
          <a:bodyPr wrap="square">
            <a:spAutoFit/>
          </a:bodyPr>
          <a:lstStyle/>
          <a:p>
            <a:pPr>
              <a:spcAft>
                <a:spcPts val="600"/>
              </a:spcAft>
            </a:pPr>
            <a:r>
              <a:rPr sz="1600" b="0">
                <a:solidFill>
                  <a:srgbClr val="0C111D"/>
                </a:solidFill>
                <a:latin typeface="Arial"/>
              </a:rPr>
              <a:t>•  1 tài liệu: hien_trang.docx</a:t>
            </a:r>
          </a:p>
          <a:p>
            <a:pPr>
              <a:spcAft>
                <a:spcPts val="600"/>
              </a:spcAft>
            </a:pPr>
            <a:r>
              <a:rPr sz="1600" b="0">
                <a:solidFill>
                  <a:srgbClr val="0C111D"/>
                </a:solidFill>
                <a:latin typeface="Arial"/>
              </a:rPr>
              <a:t>•  8 requirement từ file Excel của khách</a:t>
            </a:r>
          </a:p>
          <a:p>
            <a:pPr>
              <a:spcAft>
                <a:spcPts val="600"/>
              </a:spcAft>
            </a:pPr>
            <a:r>
              <a:rPr sz="1600" b="0">
                <a:solidFill>
                  <a:srgbClr val="0C111D"/>
                </a:solidFill>
                <a:latin typeface="Arial"/>
              </a:rPr>
              <a:t>•  Data mẫu lich_su_cau_hoi.csv: 420 dòng × 5 cột, độ sẵn sàng 4/5, 1 cột nghi PII</a:t>
            </a:r>
          </a:p>
          <a:p>
            <a:pPr>
              <a:spcAft>
                <a:spcPts val="600"/>
              </a:spcAft>
            </a:pPr>
            <a:r>
              <a:rPr sz="1600" b="0">
                <a:solidFill>
                  <a:srgbClr val="0C111D"/>
                </a:solidFill>
                <a:latin typeface="Arial"/>
              </a:rPr>
              <a:t>•  Source code portal_noi_bo.zip: 34 dòng (JavaScript, Python); framework: Flask, React</a:t>
            </a:r>
          </a:p>
        </p:txBody>
      </p:sp>
      <p:sp>
        <p:nvSpPr>
          <p:cNvPr id="8" name="TextBox 7"/>
          <p:cNvSpPr txBox="1"/>
          <p:nvPr/>
        </p:nvSpPr>
        <p:spPr>
          <a:xfrm>
            <a:off x="685800" y="4206240"/>
            <a:ext cx="10789920" cy="365760"/>
          </a:xfrm>
          <a:prstGeom prst="rect">
            <a:avLst/>
          </a:prstGeom>
          <a:noFill/>
        </p:spPr>
        <p:txBody>
          <a:bodyPr wrap="square">
            <a:spAutoFit/>
          </a:bodyPr>
          <a:lstStyle/>
          <a:p>
            <a:r>
              <a:rPr sz="1500" b="1">
                <a:solidFill>
                  <a:srgbClr val="F26F21"/>
                </a:solidFill>
                <a:latin typeface="Arial"/>
              </a:rPr>
              <a:t>Lưu ý về dữ liệu</a:t>
            </a:r>
          </a:p>
        </p:txBody>
      </p:sp>
      <p:sp>
        <p:nvSpPr>
          <p:cNvPr id="9" name="TextBox 8"/>
          <p:cNvSpPr txBox="1"/>
          <p:nvPr/>
        </p:nvSpPr>
        <p:spPr>
          <a:xfrm>
            <a:off x="685800" y="4617720"/>
            <a:ext cx="10789920" cy="1645920"/>
          </a:xfrm>
          <a:prstGeom prst="rect">
            <a:avLst/>
          </a:prstGeom>
          <a:noFill/>
        </p:spPr>
        <p:txBody>
          <a:bodyPr wrap="square">
            <a:spAutoFit/>
          </a:bodyPr>
          <a:lstStyle/>
          <a:p>
            <a:pPr>
              <a:spcAft>
                <a:spcPts val="600"/>
              </a:spcAft>
            </a:pPr>
            <a:r>
              <a:rPr sz="1300" b="0">
                <a:solidFill>
                  <a:srgbClr val="6B7280"/>
                </a:solidFill>
                <a:latin typeface="Arial"/>
              </a:rPr>
              <a:t>•  Có cột nghi chứa dữ liệu cá nhân, cần ẩn danh trước khi dùng.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Hướng giải pháp đề xuất</a:t>
            </a:r>
          </a:p>
        </p:txBody>
      </p:sp>
      <p:sp>
        <p:nvSpPr>
          <p:cNvPr id="4" name="TextBox 3"/>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5" name="TextBox 4"/>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5</a:t>
            </a:r>
          </a:p>
        </p:txBody>
      </p:sp>
      <p:sp>
        <p:nvSpPr>
          <p:cNvPr id="6" name="Rounded Rectangle 5"/>
          <p:cNvSpPr/>
          <p:nvPr/>
        </p:nvSpPr>
        <p:spPr>
          <a:xfrm>
            <a:off x="685800" y="1234440"/>
            <a:ext cx="10789920" cy="1005840"/>
          </a:xfrm>
          <a:prstGeom prst="roundRect">
            <a:avLst>
              <a:gd name="adj" fmla="val 15000"/>
            </a:avLst>
          </a:prstGeom>
          <a:solidFill>
            <a:srgbClr val="FE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8229600" cy="731520"/>
          </a:xfrm>
          <a:prstGeom prst="rect">
            <a:avLst/>
          </a:prstGeom>
          <a:noFill/>
        </p:spPr>
        <p:txBody>
          <a:bodyPr wrap="square">
            <a:spAutoFit/>
          </a:bodyPr>
          <a:lstStyle/>
          <a:p>
            <a:r>
              <a:rPr sz="2800" b="1">
                <a:solidFill>
                  <a:srgbClr val="F26F21"/>
                </a:solidFill>
                <a:latin typeface="Arial"/>
              </a:rPr>
              <a:t>RAG – hỏi đáp trên tài liệu</a:t>
            </a:r>
          </a:p>
        </p:txBody>
      </p:sp>
      <p:sp>
        <p:nvSpPr>
          <p:cNvPr id="8" name="TextBox 7"/>
          <p:cNvSpPr txBox="1"/>
          <p:nvPr/>
        </p:nvSpPr>
        <p:spPr>
          <a:xfrm>
            <a:off x="8778240" y="1481328"/>
            <a:ext cx="2560320" cy="548640"/>
          </a:xfrm>
          <a:prstGeom prst="rect">
            <a:avLst/>
          </a:prstGeom>
          <a:noFill/>
        </p:spPr>
        <p:txBody>
          <a:bodyPr wrap="square">
            <a:spAutoFit/>
          </a:bodyPr>
          <a:lstStyle/>
          <a:p>
            <a:pPr algn="r"/>
            <a:r>
              <a:rPr sz="1400" b="1">
                <a:solidFill>
                  <a:srgbClr val="0C111D"/>
                </a:solidFill>
                <a:latin typeface="Arial"/>
              </a:rPr>
              <a:t>Độ tự tin: Cao</a:t>
            </a:r>
          </a:p>
        </p:txBody>
      </p:sp>
      <p:sp>
        <p:nvSpPr>
          <p:cNvPr id="9" name="TextBox 8"/>
          <p:cNvSpPr txBox="1"/>
          <p:nvPr/>
        </p:nvSpPr>
        <p:spPr>
          <a:xfrm>
            <a:off x="685800" y="2468880"/>
            <a:ext cx="10789920" cy="1280160"/>
          </a:xfrm>
          <a:prstGeom prst="rect">
            <a:avLst/>
          </a:prstGeom>
          <a:noFill/>
        </p:spPr>
        <p:txBody>
          <a:bodyPr wrap="square">
            <a:spAutoFit/>
          </a:bodyPr>
          <a:lstStyle/>
          <a:p>
            <a:r>
              <a:rPr sz="1500" b="0">
                <a:solidFill>
                  <a:srgbClr val="0C111D"/>
                </a:solidFill>
                <a:latin typeface="Arial"/>
              </a:rPr>
              <a:t>Bài toán là hỏi đáp trên kho văn bản phi cấu trúc thay đổi theo thời gian và cần trích dẫn nguồn. RAG cho phép cập nhật tài liệu mà không phải huấn luyện lại model.</a:t>
            </a:r>
          </a:p>
        </p:txBody>
      </p:sp>
      <p:graphicFrame>
        <p:nvGraphicFramePr>
          <p:cNvPr id="10" name="Table 9"/>
          <p:cNvGraphicFramePr>
            <a:graphicFrameLocks noGrp="1"/>
          </p:cNvGraphicFramePr>
          <p:nvPr/>
        </p:nvGraphicFramePr>
        <p:xfrm>
          <a:off x="685800" y="3840480"/>
          <a:ext cx="10789919" cy="1828800"/>
        </p:xfrm>
        <a:graphic>
          <a:graphicData uri="http://schemas.openxmlformats.org/drawingml/2006/table">
            <a:tbl>
              <a:tblPr firstRow="1" bandRow="1">
                <a:tableStyleId>{5C22544A-7EE6-4342-B048-85BDC9FD1C3A}</a:tableStyleId>
              </a:tblPr>
              <a:tblGrid>
                <a:gridCol w="3291840"/>
                <a:gridCol w="7498079"/>
              </a:tblGrid>
              <a:tr h="365760">
                <a:tc>
                  <a:txBody>
                    <a:bodyPr/>
                    <a:lstStyle/>
                    <a:p>
                      <a:r>
                        <a:rPr sz="1200" b="1">
                          <a:solidFill>
                            <a:srgbClr val="FFFFFF"/>
                          </a:solidFill>
                          <a:latin typeface="Arial"/>
                        </a:rPr>
                        <a:t>Hướng đã cân nhắc và loại</a:t>
                      </a:r>
                    </a:p>
                  </a:txBody>
                  <a:tcPr marT="36576" marB="36576">
                    <a:solidFill>
                      <a:srgbClr val="F26F21"/>
                    </a:solidFill>
                  </a:tcPr>
                </a:tc>
                <a:tc>
                  <a:txBody>
                    <a:bodyPr/>
                    <a:lstStyle/>
                    <a:p>
                      <a:r>
                        <a:rPr sz="1200" b="1">
                          <a:solidFill>
                            <a:srgbClr val="FFFFFF"/>
                          </a:solidFill>
                          <a:latin typeface="Arial"/>
                        </a:rPr>
                        <a:t>Lý do</a:t>
                      </a:r>
                    </a:p>
                  </a:txBody>
                  <a:tcPr marT="36576" marB="36576">
                    <a:solidFill>
                      <a:srgbClr val="F26F21"/>
                    </a:solidFill>
                  </a:tcPr>
                </a:tc>
              </a:tr>
              <a:tr h="365760">
                <a:tc>
                  <a:txBody>
                    <a:bodyPr/>
                    <a:lstStyle/>
                    <a:p>
                      <a:r>
                        <a:rPr sz="1200" b="0">
                          <a:solidFill>
                            <a:srgbClr val="0C111D"/>
                          </a:solidFill>
                          <a:latin typeface="Arial"/>
                        </a:rPr>
                        <a:t>Không cần AI (quy tắc / script)</a:t>
                      </a:r>
                    </a:p>
                  </a:txBody>
                  <a:tcPr marT="36576" marB="36576">
                    <a:solidFill>
                      <a:srgbClr val="FFFFFF"/>
                    </a:solidFill>
                  </a:tcPr>
                </a:tc>
                <a:tc>
                  <a:txBody>
                    <a:bodyPr/>
                    <a:lstStyle/>
                    <a:p>
                      <a:r>
                        <a:rPr sz="1200" b="0">
                          <a:solidFill>
                            <a:srgbClr val="0C111D"/>
                          </a:solidFill>
                          <a:latin typeface="Arial"/>
                        </a:rPr>
                        <a:t>Câu hỏi của nhân viên ở dạng ngôn ngữ tự nhiên đa dạng, không viết thành quy tắc được.</a:t>
                      </a:r>
                    </a:p>
                  </a:txBody>
                  <a:tcPr marT="36576" marB="36576">
                    <a:solidFill>
                      <a:srgbClr val="FFFFFF"/>
                    </a:solidFill>
                  </a:tcPr>
                </a:tc>
              </a:tr>
              <a:tr h="365760">
                <a:tc>
                  <a:txBody>
                    <a:bodyPr/>
                    <a:lstStyle/>
                    <a:p>
                      <a:r>
                        <a:rPr sz="1200" b="0">
                          <a:solidFill>
                            <a:srgbClr val="0C111D"/>
                          </a:solidFill>
                          <a:latin typeface="Arial"/>
                        </a:rPr>
                        <a:t>Fine-tune model</a:t>
                      </a:r>
                    </a:p>
                  </a:txBody>
                  <a:tcPr marT="36576" marB="36576">
                    <a:solidFill>
                      <a:srgbClr val="F5F5F4"/>
                    </a:solidFill>
                  </a:tcPr>
                </a:tc>
                <a:tc>
                  <a:txBody>
                    <a:bodyPr/>
                    <a:lstStyle/>
                    <a:p>
                      <a:r>
                        <a:rPr sz="1200" b="0">
                          <a:solidFill>
                            <a:srgbClr val="0C111D"/>
                          </a:solidFill>
                          <a:latin typeface="Arial"/>
                        </a:rPr>
                        <a:t>Văn bản thay đổi thường xuyên, fine-tune tốn kém và không cho trích dẫn nguồn.</a:t>
                      </a:r>
                    </a:p>
                  </a:txBody>
                  <a:tcPr marT="36576" marB="36576">
                    <a:solidFill>
                      <a:srgbClr val="F5F5F4"/>
                    </a:solidFill>
                  </a:tcPr>
                </a:tc>
              </a:tr>
              <a:tr h="365760">
                <a:tc>
                  <a:txBody>
                    <a:bodyPr/>
                    <a:lstStyle/>
                    <a:p>
                      <a:r>
                        <a:rPr sz="1200" b="0">
                          <a:solidFill>
                            <a:srgbClr val="0C111D"/>
                          </a:solidFill>
                          <a:latin typeface="Arial"/>
                        </a:rPr>
                        <a:t>AI Agent – tự động hóa nhiều bước</a:t>
                      </a:r>
                    </a:p>
                  </a:txBody>
                  <a:tcPr marT="36576" marB="36576">
                    <a:solidFill>
                      <a:srgbClr val="FFFFFF"/>
                    </a:solidFill>
                  </a:tcPr>
                </a:tc>
                <a:tc>
                  <a:txBody>
                    <a:bodyPr/>
                    <a:lstStyle/>
                    <a:p>
                      <a:r>
                        <a:rPr sz="1200" b="0">
                          <a:solidFill>
                            <a:srgbClr val="0C111D"/>
                          </a:solidFill>
                          <a:latin typeface="Arial"/>
                        </a:rPr>
                        <a:t>Không cần thực hiện hành động nhiều bước trên hệ thống khác.</a:t>
                      </a:r>
                    </a:p>
                  </a:txBody>
                  <a:tcPr marT="36576" marB="36576">
                    <a:solidFill>
                      <a:srgbClr val="FFFFFF"/>
                    </a:solidFill>
                  </a:tcPr>
                </a:tc>
              </a:tr>
              <a:tr h="365760">
                <a:tc>
                  <a:txBody>
                    <a:bodyPr/>
                    <a:lstStyle/>
                    <a:p>
                      <a:r>
                        <a:rPr sz="1200" b="0">
                          <a:solidFill>
                            <a:srgbClr val="0C111D"/>
                          </a:solidFill>
                          <a:latin typeface="Arial"/>
                        </a:rPr>
                        <a:t>Machine learning truyền thống</a:t>
                      </a:r>
                    </a:p>
                  </a:txBody>
                  <a:tcPr marT="36576" marB="36576">
                    <a:solidFill>
                      <a:srgbClr val="F5F5F4"/>
                    </a:solidFill>
                  </a:tcPr>
                </a:tc>
                <a:tc>
                  <a:txBody>
                    <a:bodyPr/>
                    <a:lstStyle/>
                    <a:p>
                      <a:r>
                        <a:rPr sz="1200" b="0">
                          <a:solidFill>
                            <a:srgbClr val="0C111D"/>
                          </a:solidFill>
                          <a:latin typeface="Arial"/>
                        </a:rPr>
                        <a:t>Không có bài toán dự đoán trên dữ liệu bảng.</a:t>
                      </a:r>
                    </a:p>
                  </a:txBody>
                  <a:tcPr marT="36576" marB="36576">
                    <a:solidFill>
                      <a:srgbClr val="F5F5F4"/>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Kiến trúc hệ thống</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Triển khai: Cloud</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6</a:t>
            </a:r>
          </a:p>
        </p:txBody>
      </p:sp>
      <p:sp>
        <p:nvSpPr>
          <p:cNvPr id="7" name="Rounded Rectangle 6"/>
          <p:cNvSpPr/>
          <p:nvPr/>
        </p:nvSpPr>
        <p:spPr>
          <a:xfrm>
            <a:off x="982980" y="2148840"/>
            <a:ext cx="2103120" cy="868680"/>
          </a:xfrm>
          <a:prstGeom prst="roundRect">
            <a:avLst/>
          </a:prstGeom>
          <a:solidFill>
            <a:srgbClr val="FEF1E9"/>
          </a:solidFill>
          <a:ln w="15875">
            <a:solidFill>
              <a:srgbClr val="F26F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C111D"/>
                </a:solidFill>
                <a:latin typeface="Arial"/>
              </a:rPr>
              <a:t>Nhân viên</a:t>
            </a:r>
          </a:p>
        </p:txBody>
      </p:sp>
      <p:sp>
        <p:nvSpPr>
          <p:cNvPr id="8" name="Rounded Rectangle 7"/>
          <p:cNvSpPr/>
          <p:nvPr/>
        </p:nvSpPr>
        <p:spPr>
          <a:xfrm>
            <a:off x="982980" y="4389120"/>
            <a:ext cx="2103120" cy="868680"/>
          </a:xfrm>
          <a:prstGeom prst="roundRect">
            <a:avLst/>
          </a:prstGeom>
          <a:solidFill>
            <a:srgbClr val="FEF1E9"/>
          </a:solidFill>
          <a:ln w="15875">
            <a:solidFill>
              <a:srgbClr val="F26F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C111D"/>
                </a:solidFill>
                <a:latin typeface="Arial"/>
              </a:rPr>
              <a:t>Văn bản Word/PDF</a:t>
            </a:r>
          </a:p>
        </p:txBody>
      </p:sp>
      <p:sp>
        <p:nvSpPr>
          <p:cNvPr id="9" name="Rounded Rectangle 8"/>
          <p:cNvSpPr/>
          <p:nvPr/>
        </p:nvSpPr>
        <p:spPr>
          <a:xfrm>
            <a:off x="3680460" y="2148840"/>
            <a:ext cx="2103120" cy="868680"/>
          </a:xfrm>
          <a:prstGeom prst="roundRect">
            <a:avLst/>
          </a:prstGeom>
          <a:solidFill>
            <a:srgbClr val="FEF1E9"/>
          </a:solidFill>
          <a:ln w="15875">
            <a:solidFill>
              <a:srgbClr val="F26F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C111D"/>
                </a:solidFill>
                <a:latin typeface="Arial"/>
              </a:rPr>
              <a:t>Web chat</a:t>
            </a:r>
          </a:p>
        </p:txBody>
      </p:sp>
      <p:sp>
        <p:nvSpPr>
          <p:cNvPr id="10" name="Rounded Rectangle 9"/>
          <p:cNvSpPr/>
          <p:nvPr/>
        </p:nvSpPr>
        <p:spPr>
          <a:xfrm>
            <a:off x="3680460" y="4389120"/>
            <a:ext cx="2103120" cy="868680"/>
          </a:xfrm>
          <a:prstGeom prst="roundRect">
            <a:avLst/>
          </a:prstGeom>
          <a:solidFill>
            <a:srgbClr val="FEF1E9"/>
          </a:solidFill>
          <a:ln w="15875">
            <a:solidFill>
              <a:srgbClr val="F26F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C111D"/>
                </a:solidFill>
                <a:latin typeface="Arial"/>
              </a:rPr>
              <a:t>Ingestion</a:t>
            </a:r>
          </a:p>
        </p:txBody>
      </p:sp>
      <p:sp>
        <p:nvSpPr>
          <p:cNvPr id="11" name="Rounded Rectangle 10"/>
          <p:cNvSpPr/>
          <p:nvPr/>
        </p:nvSpPr>
        <p:spPr>
          <a:xfrm>
            <a:off x="6377940" y="3268980"/>
            <a:ext cx="2103120" cy="868680"/>
          </a:xfrm>
          <a:prstGeom prst="roundRect">
            <a:avLst/>
          </a:prstGeom>
          <a:solidFill>
            <a:srgbClr val="FEF1E9"/>
          </a:solidFill>
          <a:ln w="15875">
            <a:solidFill>
              <a:srgbClr val="F26F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C111D"/>
                </a:solidFill>
                <a:latin typeface="Arial"/>
              </a:rPr>
              <a:t>Chat API</a:t>
            </a:r>
          </a:p>
        </p:txBody>
      </p:sp>
      <p:sp>
        <p:nvSpPr>
          <p:cNvPr id="12" name="Rounded Rectangle 11"/>
          <p:cNvSpPr/>
          <p:nvPr/>
        </p:nvSpPr>
        <p:spPr>
          <a:xfrm>
            <a:off x="9075420" y="2148840"/>
            <a:ext cx="2103120" cy="868680"/>
          </a:xfrm>
          <a:prstGeom prst="roundRect">
            <a:avLst/>
          </a:prstGeom>
          <a:solidFill>
            <a:srgbClr val="FEF1E9"/>
          </a:solidFill>
          <a:ln w="15875">
            <a:solidFill>
              <a:srgbClr val="F26F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C111D"/>
                </a:solidFill>
                <a:latin typeface="Arial"/>
              </a:rPr>
              <a:t>Vector index</a:t>
            </a:r>
          </a:p>
        </p:txBody>
      </p:sp>
      <p:sp>
        <p:nvSpPr>
          <p:cNvPr id="13" name="Rounded Rectangle 12"/>
          <p:cNvSpPr/>
          <p:nvPr/>
        </p:nvSpPr>
        <p:spPr>
          <a:xfrm>
            <a:off x="9075420" y="4389120"/>
            <a:ext cx="2103120" cy="868680"/>
          </a:xfrm>
          <a:prstGeom prst="roundRect">
            <a:avLst/>
          </a:prstGeom>
          <a:solidFill>
            <a:srgbClr val="FEF1E9"/>
          </a:solidFill>
          <a:ln w="15875">
            <a:solidFill>
              <a:srgbClr val="F26F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C111D"/>
                </a:solidFill>
                <a:latin typeface="Arial"/>
              </a:rPr>
              <a:t>LLM API</a:t>
            </a:r>
          </a:p>
        </p:txBody>
      </p:sp>
      <p:cxnSp>
        <p:nvCxnSpPr>
          <p:cNvPr id="14" name="Connector 13"/>
          <p:cNvCxnSpPr>
            <a:stCxn id="7" idx="3"/>
            <a:endCxn id="9" idx="1"/>
          </p:cNvCxnSpPr>
          <p:nvPr/>
        </p:nvCxnSpPr>
        <p:spPr>
          <a:xfrm flipV="1">
            <a:off x="3086100" y="2583180"/>
            <a:ext cx="594360" cy="0"/>
          </a:xfrm>
          <a:prstGeom prst="line">
            <a:avLst/>
          </a:prstGeom>
          <a:ln w="19050">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a:stCxn id="9" idx="3"/>
            <a:endCxn id="11" idx="1"/>
          </p:cNvCxnSpPr>
          <p:nvPr/>
        </p:nvCxnSpPr>
        <p:spPr>
          <a:xfrm>
            <a:off x="5783580" y="2583180"/>
            <a:ext cx="594360" cy="1120140"/>
          </a:xfrm>
          <a:prstGeom prst="line">
            <a:avLst/>
          </a:prstGeom>
          <a:ln w="19050">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a:stCxn id="8" idx="3"/>
            <a:endCxn id="10" idx="1"/>
          </p:cNvCxnSpPr>
          <p:nvPr/>
        </p:nvCxnSpPr>
        <p:spPr>
          <a:xfrm flipV="1">
            <a:off x="3086100" y="4823460"/>
            <a:ext cx="594360" cy="0"/>
          </a:xfrm>
          <a:prstGeom prst="line">
            <a:avLst/>
          </a:prstGeom>
          <a:ln w="19050">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a:stCxn id="10" idx="3"/>
            <a:endCxn id="12" idx="1"/>
          </p:cNvCxnSpPr>
          <p:nvPr/>
        </p:nvCxnSpPr>
        <p:spPr>
          <a:xfrm flipV="1">
            <a:off x="5783580" y="2583180"/>
            <a:ext cx="3291840" cy="2240280"/>
          </a:xfrm>
          <a:prstGeom prst="line">
            <a:avLst/>
          </a:prstGeom>
          <a:ln w="19050">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11" idx="3"/>
            <a:endCxn id="12" idx="1"/>
          </p:cNvCxnSpPr>
          <p:nvPr/>
        </p:nvCxnSpPr>
        <p:spPr>
          <a:xfrm flipV="1">
            <a:off x="8481060" y="2583180"/>
            <a:ext cx="594360" cy="1120140"/>
          </a:xfrm>
          <a:prstGeom prst="line">
            <a:avLst/>
          </a:prstGeom>
          <a:ln w="19050">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11" idx="3"/>
            <a:endCxn id="13" idx="1"/>
          </p:cNvCxnSpPr>
          <p:nvPr/>
        </p:nvCxnSpPr>
        <p:spPr>
          <a:xfrm>
            <a:off x="8481060" y="3703320"/>
            <a:ext cx="594360" cy="1120140"/>
          </a:xfrm>
          <a:prstGeom prst="line">
            <a:avLst/>
          </a:prstGeom>
          <a:ln w="19050">
            <a:solidFill>
              <a:srgbClr val="6B728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Đánh giá khả thi &amp; rủi ro</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Khuyến nghị: Triển khai qua PoC</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7</a:t>
            </a:r>
          </a:p>
        </p:txBody>
      </p:sp>
      <p:sp>
        <p:nvSpPr>
          <p:cNvPr id="7" name="Rounded Rectangle 6"/>
          <p:cNvSpPr/>
          <p:nvPr/>
        </p:nvSpPr>
        <p:spPr>
          <a:xfrm>
            <a:off x="685800" y="1325880"/>
            <a:ext cx="3429000" cy="1143000"/>
          </a:xfrm>
          <a:prstGeom prst="roundRect">
            <a:avLst>
              <a:gd name="adj" fmla="val 12000"/>
            </a:avLst>
          </a:prstGeom>
          <a:solidFill>
            <a:srgbClr val="FE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1463040" cy="1005840"/>
          </a:xfrm>
          <a:prstGeom prst="rect">
            <a:avLst/>
          </a:prstGeom>
          <a:noFill/>
        </p:spPr>
        <p:txBody>
          <a:bodyPr wrap="square">
            <a:spAutoFit/>
          </a:bodyPr>
          <a:lstStyle/>
          <a:p>
            <a:r>
              <a:rPr sz="3400" b="1">
                <a:solidFill>
                  <a:srgbClr val="F26F21"/>
                </a:solidFill>
                <a:latin typeface="Arial"/>
              </a:rPr>
              <a:t>4/5</a:t>
            </a:r>
          </a:p>
        </p:txBody>
      </p:sp>
      <p:sp>
        <p:nvSpPr>
          <p:cNvPr id="9" name="TextBox 8"/>
          <p:cNvSpPr txBox="1"/>
          <p:nvPr/>
        </p:nvSpPr>
        <p:spPr>
          <a:xfrm>
            <a:off x="2331720" y="1664208"/>
            <a:ext cx="1737360" cy="548640"/>
          </a:xfrm>
          <a:prstGeom prst="rect">
            <a:avLst/>
          </a:prstGeom>
          <a:noFill/>
        </p:spPr>
        <p:txBody>
          <a:bodyPr wrap="square">
            <a:spAutoFit/>
          </a:bodyPr>
          <a:lstStyle/>
          <a:p>
            <a:r>
              <a:rPr sz="1400" b="1">
                <a:solidFill>
                  <a:srgbClr val="0C111D"/>
                </a:solidFill>
                <a:latin typeface="Arial"/>
              </a:rPr>
              <a:t>Sẵn sàng dữ liệu</a:t>
            </a:r>
          </a:p>
        </p:txBody>
      </p:sp>
      <p:sp>
        <p:nvSpPr>
          <p:cNvPr id="10" name="Rounded Rectangle 9"/>
          <p:cNvSpPr/>
          <p:nvPr/>
        </p:nvSpPr>
        <p:spPr>
          <a:xfrm>
            <a:off x="4343400" y="1325880"/>
            <a:ext cx="3429000" cy="1143000"/>
          </a:xfrm>
          <a:prstGeom prst="roundRect">
            <a:avLst>
              <a:gd name="adj" fmla="val 12000"/>
            </a:avLst>
          </a:prstGeom>
          <a:solidFill>
            <a:srgbClr val="FE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371600"/>
            <a:ext cx="1463040" cy="1005840"/>
          </a:xfrm>
          <a:prstGeom prst="rect">
            <a:avLst/>
          </a:prstGeom>
          <a:noFill/>
        </p:spPr>
        <p:txBody>
          <a:bodyPr wrap="square">
            <a:spAutoFit/>
          </a:bodyPr>
          <a:lstStyle/>
          <a:p>
            <a:r>
              <a:rPr sz="3400" b="1">
                <a:solidFill>
                  <a:srgbClr val="F26F21"/>
                </a:solidFill>
                <a:latin typeface="Arial"/>
              </a:rPr>
              <a:t>4/5</a:t>
            </a:r>
          </a:p>
        </p:txBody>
      </p:sp>
      <p:sp>
        <p:nvSpPr>
          <p:cNvPr id="12" name="TextBox 11"/>
          <p:cNvSpPr txBox="1"/>
          <p:nvPr/>
        </p:nvSpPr>
        <p:spPr>
          <a:xfrm>
            <a:off x="5989320" y="1664208"/>
            <a:ext cx="1737360" cy="548640"/>
          </a:xfrm>
          <a:prstGeom prst="rect">
            <a:avLst/>
          </a:prstGeom>
          <a:noFill/>
        </p:spPr>
        <p:txBody>
          <a:bodyPr wrap="square">
            <a:spAutoFit/>
          </a:bodyPr>
          <a:lstStyle/>
          <a:p>
            <a:r>
              <a:rPr sz="1400" b="1">
                <a:solidFill>
                  <a:srgbClr val="0C111D"/>
                </a:solidFill>
                <a:latin typeface="Arial"/>
              </a:rPr>
              <a:t>Khả thi kỹ thuật</a:t>
            </a:r>
          </a:p>
        </p:txBody>
      </p:sp>
      <p:sp>
        <p:nvSpPr>
          <p:cNvPr id="13" name="Rounded Rectangle 12"/>
          <p:cNvSpPr/>
          <p:nvPr/>
        </p:nvSpPr>
        <p:spPr>
          <a:xfrm>
            <a:off x="8001000" y="1325880"/>
            <a:ext cx="3429000" cy="1143000"/>
          </a:xfrm>
          <a:prstGeom prst="roundRect">
            <a:avLst>
              <a:gd name="adj" fmla="val 12000"/>
            </a:avLst>
          </a:prstGeom>
          <a:solidFill>
            <a:srgbClr val="FE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371600"/>
            <a:ext cx="1463040" cy="1005840"/>
          </a:xfrm>
          <a:prstGeom prst="rect">
            <a:avLst/>
          </a:prstGeom>
          <a:noFill/>
        </p:spPr>
        <p:txBody>
          <a:bodyPr wrap="square">
            <a:spAutoFit/>
          </a:bodyPr>
          <a:lstStyle/>
          <a:p>
            <a:r>
              <a:rPr sz="3400" b="1">
                <a:solidFill>
                  <a:srgbClr val="F26F21"/>
                </a:solidFill>
                <a:latin typeface="Arial"/>
              </a:rPr>
              <a:t>4/5</a:t>
            </a:r>
          </a:p>
        </p:txBody>
      </p:sp>
      <p:sp>
        <p:nvSpPr>
          <p:cNvPr id="15" name="TextBox 14"/>
          <p:cNvSpPr txBox="1"/>
          <p:nvPr/>
        </p:nvSpPr>
        <p:spPr>
          <a:xfrm>
            <a:off x="9646920" y="1664208"/>
            <a:ext cx="1737360" cy="548640"/>
          </a:xfrm>
          <a:prstGeom prst="rect">
            <a:avLst/>
          </a:prstGeom>
          <a:noFill/>
        </p:spPr>
        <p:txBody>
          <a:bodyPr wrap="square">
            <a:spAutoFit/>
          </a:bodyPr>
          <a:lstStyle/>
          <a:p>
            <a:r>
              <a:rPr sz="1400" b="1">
                <a:solidFill>
                  <a:srgbClr val="0C111D"/>
                </a:solidFill>
                <a:latin typeface="Arial"/>
              </a:rPr>
              <a:t>Giá trị kinh doanh</a:t>
            </a:r>
          </a:p>
        </p:txBody>
      </p:sp>
      <p:graphicFrame>
        <p:nvGraphicFramePr>
          <p:cNvPr id="16" name="Table 15"/>
          <p:cNvGraphicFramePr>
            <a:graphicFrameLocks noGrp="1"/>
          </p:cNvGraphicFramePr>
          <p:nvPr/>
        </p:nvGraphicFramePr>
        <p:xfrm>
          <a:off x="685800" y="2743200"/>
          <a:ext cx="10789920" cy="1463040"/>
        </p:xfrm>
        <a:graphic>
          <a:graphicData uri="http://schemas.openxmlformats.org/drawingml/2006/table">
            <a:tbl>
              <a:tblPr firstRow="1" bandRow="1">
                <a:tableStyleId>{5C22544A-7EE6-4342-B048-85BDC9FD1C3A}</a:tableStyleId>
              </a:tblPr>
              <a:tblGrid>
                <a:gridCol w="822960"/>
                <a:gridCol w="1554480"/>
                <a:gridCol w="4206240"/>
                <a:gridCol w="4206240"/>
              </a:tblGrid>
              <a:tr h="365760">
                <a:tc>
                  <a:txBody>
                    <a:bodyPr/>
                    <a:lstStyle/>
                    <a:p>
                      <a:r>
                        <a:rPr sz="1100" b="1">
                          <a:solidFill>
                            <a:srgbClr val="FFFFFF"/>
                          </a:solidFill>
                          <a:latin typeface="Arial"/>
                        </a:rPr>
                        <a:t>Mức</a:t>
                      </a:r>
                    </a:p>
                  </a:txBody>
                  <a:tcPr marT="36576" marB="36576">
                    <a:solidFill>
                      <a:srgbClr val="F26F21"/>
                    </a:solidFill>
                  </a:tcPr>
                </a:tc>
                <a:tc>
                  <a:txBody>
                    <a:bodyPr/>
                    <a:lstStyle/>
                    <a:p>
                      <a:r>
                        <a:rPr sz="1100" b="1">
                          <a:solidFill>
                            <a:srgbClr val="FFFFFF"/>
                          </a:solidFill>
                          <a:latin typeface="Arial"/>
                        </a:rPr>
                        <a:t>Loại</a:t>
                      </a:r>
                    </a:p>
                  </a:txBody>
                  <a:tcPr marT="36576" marB="36576">
                    <a:solidFill>
                      <a:srgbClr val="F26F21"/>
                    </a:solidFill>
                  </a:tcPr>
                </a:tc>
                <a:tc>
                  <a:txBody>
                    <a:bodyPr/>
                    <a:lstStyle/>
                    <a:p>
                      <a:r>
                        <a:rPr sz="1100" b="1">
                          <a:solidFill>
                            <a:srgbClr val="FFFFFF"/>
                          </a:solidFill>
                          <a:latin typeface="Arial"/>
                        </a:rPr>
                        <a:t>Rủi ro</a:t>
                      </a:r>
                    </a:p>
                  </a:txBody>
                  <a:tcPr marT="36576" marB="36576">
                    <a:solidFill>
                      <a:srgbClr val="F26F21"/>
                    </a:solidFill>
                  </a:tcPr>
                </a:tc>
                <a:tc>
                  <a:txBody>
                    <a:bodyPr/>
                    <a:lstStyle/>
                    <a:p>
                      <a:r>
                        <a:rPr sz="1100" b="1">
                          <a:solidFill>
                            <a:srgbClr val="FFFFFF"/>
                          </a:solidFill>
                          <a:latin typeface="Arial"/>
                        </a:rPr>
                        <a:t>Giảm thiểu</a:t>
                      </a:r>
                    </a:p>
                  </a:txBody>
                  <a:tcPr marT="36576" marB="36576">
                    <a:solidFill>
                      <a:srgbClr val="F26F21"/>
                    </a:solidFill>
                  </a:tcPr>
                </a:tc>
              </a:tr>
              <a:tr h="365760">
                <a:tc>
                  <a:txBody>
                    <a:bodyPr/>
                    <a:lstStyle/>
                    <a:p>
                      <a:r>
                        <a:rPr sz="1100" b="0">
                          <a:solidFill>
                            <a:srgbClr val="FFFFFF"/>
                          </a:solidFill>
                          <a:latin typeface="Arial"/>
                        </a:rPr>
                        <a:t>4</a:t>
                      </a:r>
                    </a:p>
                  </a:txBody>
                  <a:tcPr marT="36576" marB="36576">
                    <a:solidFill>
                      <a:srgbClr val="D64545"/>
                    </a:solidFill>
                  </a:tcPr>
                </a:tc>
                <a:tc>
                  <a:txBody>
                    <a:bodyPr/>
                    <a:lstStyle/>
                    <a:p>
                      <a:r>
                        <a:rPr sz="1100" b="0">
                          <a:solidFill>
                            <a:srgbClr val="0C111D"/>
                          </a:solidFill>
                          <a:latin typeface="Arial"/>
                        </a:rPr>
                        <a:t>Độ chính xác</a:t>
                      </a:r>
                    </a:p>
                  </a:txBody>
                  <a:tcPr marT="36576" marB="36576">
                    <a:solidFill>
                      <a:srgbClr val="FFFFFF"/>
                    </a:solidFill>
                  </a:tcPr>
                </a:tc>
                <a:tc>
                  <a:txBody>
                    <a:bodyPr/>
                    <a:lstStyle/>
                    <a:p>
                      <a:r>
                        <a:rPr sz="1100" b="0">
                          <a:solidFill>
                            <a:srgbClr val="0C111D"/>
                          </a:solidFill>
                          <a:latin typeface="Arial"/>
                        </a:rPr>
                        <a:t>Trợ lý trả lời sai điều khoản dẫn tới áp dụng sai quy định.</a:t>
                      </a:r>
                    </a:p>
                  </a:txBody>
                  <a:tcPr marT="36576" marB="36576">
                    <a:solidFill>
                      <a:srgbClr val="FFFFFF"/>
                    </a:solidFill>
                  </a:tcPr>
                </a:tc>
                <a:tc>
                  <a:txBody>
                    <a:bodyPr/>
                    <a:lstStyle/>
                    <a:p>
                      <a:r>
                        <a:rPr sz="1100" b="0">
                          <a:solidFill>
                            <a:srgbClr val="0C111D"/>
                          </a:solidFill>
                          <a:latin typeface="Arial"/>
                        </a:rPr>
                        <a:t>Bắt buộc trích dẫn nguồn, hiển thị đoạn gốc và bộ test 100 câu hỏi chuẩn.</a:t>
                      </a:r>
                    </a:p>
                  </a:txBody>
                  <a:tcPr marT="36576" marB="36576">
                    <a:solidFill>
                      <a:srgbClr val="FFFFFF"/>
                    </a:solidFill>
                  </a:tcPr>
                </a:tc>
              </a:tr>
              <a:tr h="365760">
                <a:tc>
                  <a:txBody>
                    <a:bodyPr/>
                    <a:lstStyle/>
                    <a:p>
                      <a:r>
                        <a:rPr sz="1100" b="0">
                          <a:solidFill>
                            <a:srgbClr val="FFFFFF"/>
                          </a:solidFill>
                          <a:latin typeface="Arial"/>
                        </a:rPr>
                        <a:t>3</a:t>
                      </a:r>
                    </a:p>
                  </a:txBody>
                  <a:tcPr marT="36576" marB="36576">
                    <a:solidFill>
                      <a:srgbClr val="E3A008"/>
                    </a:solidFill>
                  </a:tcPr>
                </a:tc>
                <a:tc>
                  <a:txBody>
                    <a:bodyPr/>
                    <a:lstStyle/>
                    <a:p>
                      <a:r>
                        <a:rPr sz="1100" b="0">
                          <a:solidFill>
                            <a:srgbClr val="0C111D"/>
                          </a:solidFill>
                          <a:latin typeface="Arial"/>
                        </a:rPr>
                        <a:t>Bảo mật</a:t>
                      </a:r>
                    </a:p>
                  </a:txBody>
                  <a:tcPr marT="36576" marB="36576">
                    <a:solidFill>
                      <a:srgbClr val="F5F5F4"/>
                    </a:solidFill>
                  </a:tcPr>
                </a:tc>
                <a:tc>
                  <a:txBody>
                    <a:bodyPr/>
                    <a:lstStyle/>
                    <a:p>
                      <a:r>
                        <a:rPr sz="1100" b="0">
                          <a:solidFill>
                            <a:srgbClr val="0C111D"/>
                          </a:solidFill>
                          <a:latin typeface="Arial"/>
                        </a:rPr>
                        <a:t>Một số văn bản chỉ dành cho cấp quản lý.</a:t>
                      </a:r>
                    </a:p>
                  </a:txBody>
                  <a:tcPr marT="36576" marB="36576">
                    <a:solidFill>
                      <a:srgbClr val="F5F5F4"/>
                    </a:solidFill>
                  </a:tcPr>
                </a:tc>
                <a:tc>
                  <a:txBody>
                    <a:bodyPr/>
                    <a:lstStyle/>
                    <a:p>
                      <a:r>
                        <a:rPr sz="1100" b="0">
                          <a:solidFill>
                            <a:srgbClr val="0C111D"/>
                          </a:solidFill>
                          <a:latin typeface="Arial"/>
                        </a:rPr>
                        <a:t>Lọc tài liệu theo quyền của người dùng khi truy xuất.</a:t>
                      </a:r>
                    </a:p>
                  </a:txBody>
                  <a:tcPr marT="36576" marB="36576">
                    <a:solidFill>
                      <a:srgbClr val="F5F5F4"/>
                    </a:solidFill>
                  </a:tcPr>
                </a:tc>
              </a:tr>
              <a:tr h="365760">
                <a:tc>
                  <a:txBody>
                    <a:bodyPr/>
                    <a:lstStyle/>
                    <a:p>
                      <a:r>
                        <a:rPr sz="1100" b="0">
                          <a:solidFill>
                            <a:srgbClr val="FFFFFF"/>
                          </a:solidFill>
                          <a:latin typeface="Arial"/>
                        </a:rPr>
                        <a:t>2</a:t>
                      </a:r>
                    </a:p>
                  </a:txBody>
                  <a:tcPr marT="36576" marB="36576">
                    <a:solidFill>
                      <a:srgbClr val="1F9D6B"/>
                    </a:solidFill>
                  </a:tcPr>
                </a:tc>
                <a:tc>
                  <a:txBody>
                    <a:bodyPr/>
                    <a:lstStyle/>
                    <a:p>
                      <a:r>
                        <a:rPr sz="1100" b="0">
                          <a:solidFill>
                            <a:srgbClr val="0C111D"/>
                          </a:solidFill>
                          <a:latin typeface="Arial"/>
                        </a:rPr>
                        <a:t>Áp dụng</a:t>
                      </a:r>
                    </a:p>
                  </a:txBody>
                  <a:tcPr marT="36576" marB="36576">
                    <a:solidFill>
                      <a:srgbClr val="FFFFFF"/>
                    </a:solidFill>
                  </a:tcPr>
                </a:tc>
                <a:tc>
                  <a:txBody>
                    <a:bodyPr/>
                    <a:lstStyle/>
                    <a:p>
                      <a:r>
                        <a:rPr sz="1100" b="0">
                          <a:solidFill>
                            <a:srgbClr val="0C111D"/>
                          </a:solidFill>
                          <a:latin typeface="Arial"/>
                        </a:rPr>
                        <a:t>Nhân viên quen gửi email, ít dùng công cụ mới.</a:t>
                      </a:r>
                    </a:p>
                  </a:txBody>
                  <a:tcPr marT="36576" marB="36576">
                    <a:solidFill>
                      <a:srgbClr val="FFFFFF"/>
                    </a:solidFill>
                  </a:tcPr>
                </a:tc>
                <a:tc>
                  <a:txBody>
                    <a:bodyPr/>
                    <a:lstStyle/>
                    <a:p>
                      <a:r>
                        <a:rPr sz="1100" b="0">
                          <a:solidFill>
                            <a:srgbClr val="0C111D"/>
                          </a:solidFill>
                          <a:latin typeface="Arial"/>
                        </a:rPr>
                        <a:t>Tích hợp vào kênh chat nội bộ và đào tạo ngắn.</a:t>
                      </a:r>
                    </a:p>
                  </a:txBody>
                  <a:tcPr marT="36576" marB="36576">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Effort &amp; đội ngũ</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Khoảng gốc tính bằng code từ bảng effort chuẩn × hệ số điều chỉnh</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8</a:t>
            </a:r>
          </a:p>
        </p:txBody>
      </p:sp>
      <p:sp>
        <p:nvSpPr>
          <p:cNvPr id="7" name="Rounded Rectangle 6"/>
          <p:cNvSpPr/>
          <p:nvPr/>
        </p:nvSpPr>
        <p:spPr>
          <a:xfrm>
            <a:off x="685800" y="1280160"/>
            <a:ext cx="10789920" cy="685800"/>
          </a:xfrm>
          <a:prstGeom prst="roundRect">
            <a:avLst>
              <a:gd name="adj" fmla="val 20000"/>
            </a:avLst>
          </a:prstGeom>
          <a:solidFill>
            <a:srgbClr val="F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89888"/>
            <a:ext cx="10424160" cy="457200"/>
          </a:xfrm>
          <a:prstGeom prst="rect">
            <a:avLst/>
          </a:prstGeom>
          <a:noFill/>
        </p:spPr>
        <p:txBody>
          <a:bodyPr wrap="square">
            <a:spAutoFit/>
          </a:bodyPr>
          <a:lstStyle/>
          <a:p>
            <a:r>
              <a:rPr sz="1500" b="1">
                <a:solidFill>
                  <a:srgbClr val="A94E17"/>
                </a:solidFill>
                <a:latin typeface="Arial"/>
              </a:rPr>
              <a:t>Bảng chuẩn RAG, không có hệ số điều chỉnh (× 1)</a:t>
            </a:r>
          </a:p>
        </p:txBody>
      </p:sp>
      <p:graphicFrame>
        <p:nvGraphicFramePr>
          <p:cNvPr id="9" name="Table 8"/>
          <p:cNvGraphicFramePr>
            <a:graphicFrameLocks noGrp="1"/>
          </p:cNvGraphicFramePr>
          <p:nvPr/>
        </p:nvGraphicFramePr>
        <p:xfrm>
          <a:off x="685800" y="2240280"/>
          <a:ext cx="10789920" cy="1463040"/>
        </p:xfrm>
        <a:graphic>
          <a:graphicData uri="http://schemas.openxmlformats.org/drawingml/2006/table">
            <a:tbl>
              <a:tblPr firstRow="1" bandRow="1">
                <a:tableStyleId>{5C22544A-7EE6-4342-B048-85BDC9FD1C3A}</a:tableStyleId>
              </a:tblPr>
              <a:tblGrid>
                <a:gridCol w="1463040"/>
                <a:gridCol w="1463040"/>
                <a:gridCol w="3291840"/>
                <a:gridCol w="4572000"/>
              </a:tblGrid>
              <a:tr h="365760">
                <a:tc>
                  <a:txBody>
                    <a:bodyPr/>
                    <a:lstStyle/>
                    <a:p>
                      <a:r>
                        <a:rPr sz="1300" b="1">
                          <a:solidFill>
                            <a:srgbClr val="FFFFFF"/>
                          </a:solidFill>
                          <a:latin typeface="Arial"/>
                        </a:rPr>
                        <a:t>Giai đoạn</a:t>
                      </a:r>
                    </a:p>
                  </a:txBody>
                  <a:tcPr marT="36576" marB="36576">
                    <a:solidFill>
                      <a:srgbClr val="F26F21"/>
                    </a:solidFill>
                  </a:tcPr>
                </a:tc>
                <a:tc>
                  <a:txBody>
                    <a:bodyPr/>
                    <a:lstStyle/>
                    <a:p>
                      <a:r>
                        <a:rPr sz="1300" b="1">
                          <a:solidFill>
                            <a:srgbClr val="FFFFFF"/>
                          </a:solidFill>
                          <a:latin typeface="Arial"/>
                        </a:rPr>
                        <a:t>Ngày công</a:t>
                      </a:r>
                    </a:p>
                  </a:txBody>
                  <a:tcPr marT="36576" marB="36576">
                    <a:solidFill>
                      <a:srgbClr val="F26F21"/>
                    </a:solidFill>
                  </a:tcPr>
                </a:tc>
                <a:tc>
                  <a:txBody>
                    <a:bodyPr/>
                    <a:lstStyle/>
                    <a:p>
                      <a:r>
                        <a:rPr sz="1300" b="1">
                          <a:solidFill>
                            <a:srgbClr val="FFFFFF"/>
                          </a:solidFill>
                          <a:latin typeface="Arial"/>
                        </a:rPr>
                        <a:t>Đội ngũ</a:t>
                      </a:r>
                    </a:p>
                  </a:txBody>
                  <a:tcPr marT="36576" marB="36576">
                    <a:solidFill>
                      <a:srgbClr val="F26F21"/>
                    </a:solidFill>
                  </a:tcPr>
                </a:tc>
                <a:tc>
                  <a:txBody>
                    <a:bodyPr/>
                    <a:lstStyle/>
                    <a:p>
                      <a:r>
                        <a:rPr sz="1300" b="1">
                          <a:solidFill>
                            <a:srgbClr val="FFFFFF"/>
                          </a:solidFill>
                          <a:latin typeface="Arial"/>
                        </a:rPr>
                        <a:t>Bàn giao</a:t>
                      </a:r>
                    </a:p>
                  </a:txBody>
                  <a:tcPr marT="36576" marB="36576">
                    <a:solidFill>
                      <a:srgbClr val="F26F21"/>
                    </a:solidFill>
                  </a:tcPr>
                </a:tc>
              </a:tr>
              <a:tr h="365760">
                <a:tc>
                  <a:txBody>
                    <a:bodyPr/>
                    <a:lstStyle/>
                    <a:p>
                      <a:r>
                        <a:rPr sz="1300" b="0">
                          <a:solidFill>
                            <a:srgbClr val="0C111D"/>
                          </a:solidFill>
                          <a:latin typeface="Arial"/>
                        </a:rPr>
                        <a:t>PoC</a:t>
                      </a:r>
                    </a:p>
                  </a:txBody>
                  <a:tcPr marT="36576" marB="36576">
                    <a:solidFill>
                      <a:srgbClr val="FFFFFF"/>
                    </a:solidFill>
                  </a:tcPr>
                </a:tc>
                <a:tc>
                  <a:txBody>
                    <a:bodyPr/>
                    <a:lstStyle/>
                    <a:p>
                      <a:r>
                        <a:rPr sz="1300" b="0">
                          <a:solidFill>
                            <a:srgbClr val="0C111D"/>
                          </a:solidFill>
                          <a:latin typeface="Arial"/>
                        </a:rPr>
                        <a:t>10–15</a:t>
                      </a:r>
                    </a:p>
                  </a:txBody>
                  <a:tcPr marT="36576" marB="36576">
                    <a:solidFill>
                      <a:srgbClr val="FFFFFF"/>
                    </a:solidFill>
                  </a:tcPr>
                </a:tc>
                <a:tc>
                  <a:txBody>
                    <a:bodyPr/>
                    <a:lstStyle/>
                    <a:p>
                      <a:r>
                        <a:rPr sz="1300" b="0">
                          <a:solidFill>
                            <a:srgbClr val="0C111D"/>
                          </a:solidFill>
                          <a:latin typeface="Arial"/>
                        </a:rPr>
                        <a:t>AI engineer, Backend developer</a:t>
                      </a:r>
                    </a:p>
                  </a:txBody>
                  <a:tcPr marT="36576" marB="36576">
                    <a:solidFill>
                      <a:srgbClr val="FFFFFF"/>
                    </a:solidFill>
                  </a:tcPr>
                </a:tc>
                <a:tc>
                  <a:txBody>
                    <a:bodyPr/>
                    <a:lstStyle/>
                    <a:p>
                      <a:r>
                        <a:rPr sz="1300" b="0">
                          <a:solidFill>
                            <a:srgbClr val="0C111D"/>
                          </a:solidFill>
                          <a:latin typeface="Arial"/>
                        </a:rPr>
                        <a:t>Demo hỏi đáp trên 100 văn bản; Bộ câu hỏi đánh giá</a:t>
                      </a:r>
                    </a:p>
                  </a:txBody>
                  <a:tcPr marT="36576" marB="36576">
                    <a:solidFill>
                      <a:srgbClr val="FFFFFF"/>
                    </a:solidFill>
                  </a:tcPr>
                </a:tc>
              </a:tr>
              <a:tr h="365760">
                <a:tc>
                  <a:txBody>
                    <a:bodyPr/>
                    <a:lstStyle/>
                    <a:p>
                      <a:r>
                        <a:rPr sz="1300" b="0">
                          <a:solidFill>
                            <a:srgbClr val="0C111D"/>
                          </a:solidFill>
                          <a:latin typeface="Arial"/>
                        </a:rPr>
                        <a:t>MVP</a:t>
                      </a:r>
                    </a:p>
                  </a:txBody>
                  <a:tcPr marT="36576" marB="36576">
                    <a:solidFill>
                      <a:srgbClr val="F5F5F4"/>
                    </a:solidFill>
                  </a:tcPr>
                </a:tc>
                <a:tc>
                  <a:txBody>
                    <a:bodyPr/>
                    <a:lstStyle/>
                    <a:p>
                      <a:r>
                        <a:rPr sz="1300" b="0">
                          <a:solidFill>
                            <a:srgbClr val="0C111D"/>
                          </a:solidFill>
                          <a:latin typeface="Arial"/>
                        </a:rPr>
                        <a:t>30–50</a:t>
                      </a:r>
                    </a:p>
                  </a:txBody>
                  <a:tcPr marT="36576" marB="36576">
                    <a:solidFill>
                      <a:srgbClr val="F5F5F4"/>
                    </a:solidFill>
                  </a:tcPr>
                </a:tc>
                <a:tc>
                  <a:txBody>
                    <a:bodyPr/>
                    <a:lstStyle/>
                    <a:p>
                      <a:r>
                        <a:rPr sz="1300" b="0">
                          <a:solidFill>
                            <a:srgbClr val="0C111D"/>
                          </a:solidFill>
                          <a:latin typeface="Arial"/>
                        </a:rPr>
                        <a:t>AI engineer, Backend developer, Frontend developer, QA</a:t>
                      </a:r>
                    </a:p>
                  </a:txBody>
                  <a:tcPr marT="36576" marB="36576">
                    <a:solidFill>
                      <a:srgbClr val="F5F5F4"/>
                    </a:solidFill>
                  </a:tcPr>
                </a:tc>
                <a:tc>
                  <a:txBody>
                    <a:bodyPr/>
                    <a:lstStyle/>
                    <a:p>
                      <a:r>
                        <a:rPr sz="1300" b="0">
                          <a:solidFill>
                            <a:srgbClr val="0C111D"/>
                          </a:solidFill>
                          <a:latin typeface="Arial"/>
                        </a:rPr>
                        <a:t>Trợ lý hỏi đáp toàn bộ kho văn bản; Phân quyền theo phòng ban</a:t>
                      </a:r>
                    </a:p>
                  </a:txBody>
                  <a:tcPr marT="36576" marB="36576">
                    <a:solidFill>
                      <a:srgbClr val="F5F5F4"/>
                    </a:solidFill>
                  </a:tcPr>
                </a:tc>
              </a:tr>
              <a:tr h="365760">
                <a:tc>
                  <a:txBody>
                    <a:bodyPr/>
                    <a:lstStyle/>
                    <a:p>
                      <a:r>
                        <a:rPr sz="1300" b="0">
                          <a:solidFill>
                            <a:srgbClr val="0C111D"/>
                          </a:solidFill>
                          <a:latin typeface="Arial"/>
                        </a:rPr>
                        <a:t>Production</a:t>
                      </a:r>
                    </a:p>
                  </a:txBody>
                  <a:tcPr marT="36576" marB="36576">
                    <a:solidFill>
                      <a:srgbClr val="FFFFFF"/>
                    </a:solidFill>
                  </a:tcPr>
                </a:tc>
                <a:tc>
                  <a:txBody>
                    <a:bodyPr/>
                    <a:lstStyle/>
                    <a:p>
                      <a:r>
                        <a:rPr sz="1300" b="0">
                          <a:solidFill>
                            <a:srgbClr val="0C111D"/>
                          </a:solidFill>
                          <a:latin typeface="Arial"/>
                        </a:rPr>
                        <a:t>60–100</a:t>
                      </a:r>
                    </a:p>
                  </a:txBody>
                  <a:tcPr marT="36576" marB="36576">
                    <a:solidFill>
                      <a:srgbClr val="FFFFFF"/>
                    </a:solidFill>
                  </a:tcPr>
                </a:tc>
                <a:tc>
                  <a:txBody>
                    <a:bodyPr/>
                    <a:lstStyle/>
                    <a:p>
                      <a:r>
                        <a:rPr sz="1300" b="0">
                          <a:solidFill>
                            <a:srgbClr val="0C111D"/>
                          </a:solidFill>
                          <a:latin typeface="Arial"/>
                        </a:rPr>
                        <a:t>AI engineer, Backend developer, Frontend developer, QA, Dev…</a:t>
                      </a:r>
                    </a:p>
                  </a:txBody>
                  <a:tcPr marT="36576" marB="36576">
                    <a:solidFill>
                      <a:srgbClr val="FFFFFF"/>
                    </a:solidFill>
                  </a:tcPr>
                </a:tc>
                <a:tc>
                  <a:txBody>
                    <a:bodyPr/>
                    <a:lstStyle/>
                    <a:p>
                      <a:r>
                        <a:rPr sz="1300" b="0">
                          <a:solidFill>
                            <a:srgbClr val="0C111D"/>
                          </a:solidFill>
                          <a:latin typeface="Arial"/>
                        </a:rPr>
                        <a:t>Vận hành chính thức; Giám sát chất lượng câu trả lời</a:t>
                      </a:r>
                    </a:p>
                  </a:txBody>
                  <a:tcPr marT="36576" marB="36576">
                    <a:solidFill>
                      <a:srgbClr val="FFFFFF"/>
                    </a:solidFill>
                  </a:tcPr>
                </a:tc>
              </a:tr>
            </a:tbl>
          </a:graphicData>
        </a:graphic>
      </p:graphicFrame>
      <p:sp>
        <p:nvSpPr>
          <p:cNvPr id="10" name="Rounded Rectangle 9"/>
          <p:cNvSpPr/>
          <p:nvPr/>
        </p:nvSpPr>
        <p:spPr>
          <a:xfrm>
            <a:off x="685800" y="5669280"/>
            <a:ext cx="10789920" cy="640080"/>
          </a:xfrm>
          <a:prstGeom prst="roundRect">
            <a:avLst>
              <a:gd name="adj" fmla="val 8000"/>
            </a:avLst>
          </a:prstGeom>
          <a:solidFill>
            <a:srgbClr val="FE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24144"/>
            <a:ext cx="10424160" cy="530352"/>
          </a:xfrm>
          <a:prstGeom prst="rect">
            <a:avLst/>
          </a:prstGeom>
          <a:noFill/>
        </p:spPr>
        <p:txBody>
          <a:bodyPr wrap="square">
            <a:spAutoFit/>
          </a:bodyPr>
          <a:lstStyle/>
          <a:p>
            <a:r>
              <a:rPr sz="1100" b="1">
                <a:solidFill>
                  <a:srgbClr val="A94E17"/>
                </a:solidFill>
                <a:latin typeface="Arial"/>
              </a:rPr>
              <a:t>Phạm vi KHÔNG bao gồm: Ứng dụng di động native (iOS/Android); Tích hợp hệ thống ERP hiện có chưa được liệt kê t…; Di chuyển (migrate) toàn bộ dữ liệu lịch sử (chỉ…</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WBS – cấu trúc công việc</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27 đầu việc · 132 ngày công</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9</a:t>
            </a:r>
          </a:p>
        </p:txBody>
      </p:sp>
      <p:graphicFrame>
        <p:nvGraphicFramePr>
          <p:cNvPr id="7" name="Table 6"/>
          <p:cNvGraphicFramePr>
            <a:graphicFrameLocks noGrp="1"/>
          </p:cNvGraphicFramePr>
          <p:nvPr/>
        </p:nvGraphicFramePr>
        <p:xfrm>
          <a:off x="685800" y="1325880"/>
          <a:ext cx="10789920" cy="4389120"/>
        </p:xfrm>
        <a:graphic>
          <a:graphicData uri="http://schemas.openxmlformats.org/drawingml/2006/table">
            <a:tbl>
              <a:tblPr firstRow="1" bandRow="1">
                <a:tableStyleId>{5C22544A-7EE6-4342-B048-85BDC9FD1C3A}</a:tableStyleId>
              </a:tblPr>
              <a:tblGrid>
                <a:gridCol w="731520"/>
                <a:gridCol w="1371600"/>
                <a:gridCol w="5120640"/>
                <a:gridCol w="2377440"/>
                <a:gridCol w="1188720"/>
              </a:tblGrid>
              <a:tr h="365760">
                <a:tc>
                  <a:txBody>
                    <a:bodyPr/>
                    <a:lstStyle/>
                    <a:p>
                      <a:r>
                        <a:rPr sz="1100" b="1">
                          <a:solidFill>
                            <a:srgbClr val="FFFFFF"/>
                          </a:solidFill>
                          <a:latin typeface="Arial"/>
                        </a:rPr>
                        <a:t>ID</a:t>
                      </a:r>
                    </a:p>
                  </a:txBody>
                  <a:tcPr marT="36576" marB="36576">
                    <a:solidFill>
                      <a:srgbClr val="F26F21"/>
                    </a:solidFill>
                  </a:tcPr>
                </a:tc>
                <a:tc>
                  <a:txBody>
                    <a:bodyPr/>
                    <a:lstStyle/>
                    <a:p>
                      <a:r>
                        <a:rPr sz="1100" b="1">
                          <a:solidFill>
                            <a:srgbClr val="FFFFFF"/>
                          </a:solidFill>
                          <a:latin typeface="Arial"/>
                        </a:rPr>
                        <a:t>Giai đoạn</a:t>
                      </a:r>
                    </a:p>
                  </a:txBody>
                  <a:tcPr marT="36576" marB="36576">
                    <a:solidFill>
                      <a:srgbClr val="F26F21"/>
                    </a:solidFill>
                  </a:tcPr>
                </a:tc>
                <a:tc>
                  <a:txBody>
                    <a:bodyPr/>
                    <a:lstStyle/>
                    <a:p>
                      <a:r>
                        <a:rPr sz="1100" b="1">
                          <a:solidFill>
                            <a:srgbClr val="FFFFFF"/>
                          </a:solidFill>
                          <a:latin typeface="Arial"/>
                        </a:rPr>
                        <a:t>Đầu việc</a:t>
                      </a:r>
                    </a:p>
                  </a:txBody>
                  <a:tcPr marT="36576" marB="36576">
                    <a:solidFill>
                      <a:srgbClr val="F26F21"/>
                    </a:solidFill>
                  </a:tcPr>
                </a:tc>
                <a:tc>
                  <a:txBody>
                    <a:bodyPr/>
                    <a:lstStyle/>
                    <a:p>
                      <a:r>
                        <a:rPr sz="1100" b="1">
                          <a:solidFill>
                            <a:srgbClr val="FFFFFF"/>
                          </a:solidFill>
                          <a:latin typeface="Arial"/>
                        </a:rPr>
                        <a:t>Loại</a:t>
                      </a:r>
                    </a:p>
                  </a:txBody>
                  <a:tcPr marT="36576" marB="36576">
                    <a:solidFill>
                      <a:srgbClr val="F26F21"/>
                    </a:solidFill>
                  </a:tcPr>
                </a:tc>
                <a:tc>
                  <a:txBody>
                    <a:bodyPr/>
                    <a:lstStyle/>
                    <a:p>
                      <a:r>
                        <a:rPr sz="1100" b="1">
                          <a:solidFill>
                            <a:srgbClr val="FFFFFF"/>
                          </a:solidFill>
                          <a:latin typeface="Arial"/>
                        </a:rPr>
                        <a:t>Ngày công</a:t>
                      </a:r>
                    </a:p>
                  </a:txBody>
                  <a:tcPr marT="36576" marB="36576">
                    <a:solidFill>
                      <a:srgbClr val="F26F21"/>
                    </a:solidFill>
                  </a:tcPr>
                </a:tc>
              </a:tr>
              <a:tr h="365760">
                <a:tc>
                  <a:txBody>
                    <a:bodyPr/>
                    <a:lstStyle/>
                    <a:p>
                      <a:r>
                        <a:rPr sz="1100" b="0">
                          <a:solidFill>
                            <a:srgbClr val="0C111D"/>
                          </a:solidFill>
                          <a:latin typeface="Arial"/>
                        </a:rPr>
                        <a:t>1.1</a:t>
                      </a:r>
                    </a:p>
                  </a:txBody>
                  <a:tcPr marT="36576" marB="36576">
                    <a:solidFill>
                      <a:srgbClr val="FFFFFF"/>
                    </a:solidFill>
                  </a:tcPr>
                </a:tc>
                <a:tc>
                  <a:txBody>
                    <a:bodyPr/>
                    <a:lstStyle/>
                    <a:p>
                      <a:r>
                        <a:rPr sz="1100" b="0">
                          <a:solidFill>
                            <a:srgbClr val="0C111D"/>
                          </a:solidFill>
                          <a:latin typeface="Arial"/>
                        </a:rPr>
                        <a:t>PoC</a:t>
                      </a:r>
                    </a:p>
                  </a:txBody>
                  <a:tcPr marT="36576" marB="36576">
                    <a:solidFill>
                      <a:srgbClr val="FFFFFF"/>
                    </a:solidFill>
                  </a:tcPr>
                </a:tc>
                <a:tc>
                  <a:txBody>
                    <a:bodyPr/>
                    <a:lstStyle/>
                    <a:p>
                      <a:r>
                        <a:rPr sz="1100" b="0">
                          <a:solidFill>
                            <a:srgbClr val="0C111D"/>
                          </a:solidFill>
                          <a:latin typeface="Arial"/>
                        </a:rPr>
                        <a:t>Kick-off và quản lý PoC</a:t>
                      </a:r>
                    </a:p>
                  </a:txBody>
                  <a:tcPr marT="36576" marB="36576">
                    <a:solidFill>
                      <a:srgbClr val="FFFFFF"/>
                    </a:solidFill>
                  </a:tcPr>
                </a:tc>
                <a:tc>
                  <a:txBody>
                    <a:bodyPr/>
                    <a:lstStyle/>
                    <a:p>
                      <a:r>
                        <a:rPr sz="1100" b="0">
                          <a:solidFill>
                            <a:srgbClr val="0C111D"/>
                          </a:solidFill>
                          <a:latin typeface="Arial"/>
                        </a:rPr>
                        <a:t>PM</a:t>
                      </a:r>
                    </a:p>
                  </a:txBody>
                  <a:tcPr marT="36576" marB="36576">
                    <a:solidFill>
                      <a:srgbClr val="FFFFFF"/>
                    </a:solidFill>
                  </a:tcPr>
                </a:tc>
                <a:tc>
                  <a:txBody>
                    <a:bodyPr/>
                    <a:lstStyle/>
                    <a:p>
                      <a:r>
                        <a:rPr sz="1100" b="0">
                          <a:solidFill>
                            <a:srgbClr val="0C111D"/>
                          </a:solidFill>
                          <a:latin typeface="Arial"/>
                        </a:rPr>
                        <a:t>2</a:t>
                      </a:r>
                    </a:p>
                  </a:txBody>
                  <a:tcPr marT="36576" marB="36576">
                    <a:solidFill>
                      <a:srgbClr val="FFFFFF"/>
                    </a:solidFill>
                  </a:tcPr>
                </a:tc>
              </a:tr>
              <a:tr h="365760">
                <a:tc>
                  <a:txBody>
                    <a:bodyPr/>
                    <a:lstStyle/>
                    <a:p>
                      <a:r>
                        <a:rPr sz="1100" b="0">
                          <a:solidFill>
                            <a:srgbClr val="0C111D"/>
                          </a:solidFill>
                          <a:latin typeface="Arial"/>
                        </a:rPr>
                        <a:t>1.2</a:t>
                      </a:r>
                    </a:p>
                  </a:txBody>
                  <a:tcPr marT="36576" marB="36576">
                    <a:solidFill>
                      <a:srgbClr val="F5F5F4"/>
                    </a:solidFill>
                  </a:tcPr>
                </a:tc>
                <a:tc>
                  <a:txBody>
                    <a:bodyPr/>
                    <a:lstStyle/>
                    <a:p>
                      <a:r>
                        <a:rPr sz="1100" b="0">
                          <a:solidFill>
                            <a:srgbClr val="0C111D"/>
                          </a:solidFill>
                          <a:latin typeface="Arial"/>
                        </a:rPr>
                        <a:t>PoC</a:t>
                      </a:r>
                    </a:p>
                  </a:txBody>
                  <a:tcPr marT="36576" marB="36576">
                    <a:solidFill>
                      <a:srgbClr val="F5F5F4"/>
                    </a:solidFill>
                  </a:tcPr>
                </a:tc>
                <a:tc>
                  <a:txBody>
                    <a:bodyPr/>
                    <a:lstStyle/>
                    <a:p>
                      <a:r>
                        <a:rPr sz="1100" b="0">
                          <a:solidFill>
                            <a:srgbClr val="0C111D"/>
                          </a:solidFill>
                          <a:latin typeface="Arial"/>
                        </a:rPr>
                        <a:t>Khảo sát dữ liệu &amp; yêu cầu</a:t>
                      </a:r>
                    </a:p>
                  </a:txBody>
                  <a:tcPr marT="36576" marB="36576">
                    <a:solidFill>
                      <a:srgbClr val="F5F5F4"/>
                    </a:solidFill>
                  </a:tcPr>
                </a:tc>
                <a:tc>
                  <a:txBody>
                    <a:bodyPr/>
                    <a:lstStyle/>
                    <a:p>
                      <a:r>
                        <a:rPr sz="1100" b="0">
                          <a:solidFill>
                            <a:srgbClr val="0C111D"/>
                          </a:solidFill>
                          <a:latin typeface="Arial"/>
                        </a:rPr>
                        <a:t>BA</a:t>
                      </a:r>
                    </a:p>
                  </a:txBody>
                  <a:tcPr marT="36576" marB="36576">
                    <a:solidFill>
                      <a:srgbClr val="F5F5F4"/>
                    </a:solidFill>
                  </a:tcPr>
                </a:tc>
                <a:tc>
                  <a:txBody>
                    <a:bodyPr/>
                    <a:lstStyle/>
                    <a:p>
                      <a:r>
                        <a:rPr sz="1100" b="0">
                          <a:solidFill>
                            <a:srgbClr val="0C111D"/>
                          </a:solidFill>
                          <a:latin typeface="Arial"/>
                        </a:rPr>
                        <a:t>2</a:t>
                      </a:r>
                    </a:p>
                  </a:txBody>
                  <a:tcPr marT="36576" marB="36576">
                    <a:solidFill>
                      <a:srgbClr val="F5F5F4"/>
                    </a:solidFill>
                  </a:tcPr>
                </a:tc>
              </a:tr>
              <a:tr h="365760">
                <a:tc>
                  <a:txBody>
                    <a:bodyPr/>
                    <a:lstStyle/>
                    <a:p>
                      <a:r>
                        <a:rPr sz="1100" b="0">
                          <a:solidFill>
                            <a:srgbClr val="0C111D"/>
                          </a:solidFill>
                          <a:latin typeface="Arial"/>
                        </a:rPr>
                        <a:t>1.3</a:t>
                      </a:r>
                    </a:p>
                  </a:txBody>
                  <a:tcPr marT="36576" marB="36576">
                    <a:solidFill>
                      <a:srgbClr val="FFFFFF"/>
                    </a:solidFill>
                  </a:tcPr>
                </a:tc>
                <a:tc>
                  <a:txBody>
                    <a:bodyPr/>
                    <a:lstStyle/>
                    <a:p>
                      <a:r>
                        <a:rPr sz="1100" b="0">
                          <a:solidFill>
                            <a:srgbClr val="0C111D"/>
                          </a:solidFill>
                          <a:latin typeface="Arial"/>
                        </a:rPr>
                        <a:t>PoC</a:t>
                      </a:r>
                    </a:p>
                  </a:txBody>
                  <a:tcPr marT="36576" marB="36576">
                    <a:solidFill>
                      <a:srgbClr val="FFFFFF"/>
                    </a:solidFill>
                  </a:tcPr>
                </a:tc>
                <a:tc>
                  <a:txBody>
                    <a:bodyPr/>
                    <a:lstStyle/>
                    <a:p>
                      <a:r>
                        <a:rPr sz="1100" b="0">
                          <a:solidFill>
                            <a:srgbClr val="0C111D"/>
                          </a:solidFill>
                          <a:latin typeface="Arial"/>
                        </a:rPr>
                        <a:t>Chuẩn bị dữ liệu mẫu</a:t>
                      </a:r>
                    </a:p>
                  </a:txBody>
                  <a:tcPr marT="36576" marB="36576">
                    <a:solidFill>
                      <a:srgbClr val="FFFFFF"/>
                    </a:solidFill>
                  </a:tcPr>
                </a:tc>
                <a:tc>
                  <a:txBody>
                    <a:bodyPr/>
                    <a:lstStyle/>
                    <a:p>
                      <a:r>
                        <a:rPr sz="1100" b="0">
                          <a:solidFill>
                            <a:srgbClr val="0C111D"/>
                          </a:solidFill>
                          <a:latin typeface="Arial"/>
                        </a:rPr>
                        <a:t>Data engineer</a:t>
                      </a:r>
                    </a:p>
                  </a:txBody>
                  <a:tcPr marT="36576" marB="36576">
                    <a:solidFill>
                      <a:srgbClr val="FFFFFF"/>
                    </a:solidFill>
                  </a:tcPr>
                </a:tc>
                <a:tc>
                  <a:txBody>
                    <a:bodyPr/>
                    <a:lstStyle/>
                    <a:p>
                      <a:r>
                        <a:rPr sz="1100" b="0">
                          <a:solidFill>
                            <a:srgbClr val="0C111D"/>
                          </a:solidFill>
                          <a:latin typeface="Arial"/>
                        </a:rPr>
                        <a:t>2</a:t>
                      </a:r>
                    </a:p>
                  </a:txBody>
                  <a:tcPr marT="36576" marB="36576">
                    <a:solidFill>
                      <a:srgbClr val="FFFFFF"/>
                    </a:solidFill>
                  </a:tcPr>
                </a:tc>
              </a:tr>
              <a:tr h="365760">
                <a:tc>
                  <a:txBody>
                    <a:bodyPr/>
                    <a:lstStyle/>
                    <a:p>
                      <a:r>
                        <a:rPr sz="1100" b="0">
                          <a:solidFill>
                            <a:srgbClr val="0C111D"/>
                          </a:solidFill>
                          <a:latin typeface="Arial"/>
                        </a:rPr>
                        <a:t>1.4</a:t>
                      </a:r>
                    </a:p>
                  </a:txBody>
                  <a:tcPr marT="36576" marB="36576">
                    <a:solidFill>
                      <a:srgbClr val="F5F5F4"/>
                    </a:solidFill>
                  </a:tcPr>
                </a:tc>
                <a:tc>
                  <a:txBody>
                    <a:bodyPr/>
                    <a:lstStyle/>
                    <a:p>
                      <a:r>
                        <a:rPr sz="1100" b="0">
                          <a:solidFill>
                            <a:srgbClr val="0C111D"/>
                          </a:solidFill>
                          <a:latin typeface="Arial"/>
                        </a:rPr>
                        <a:t>PoC</a:t>
                      </a:r>
                    </a:p>
                  </a:txBody>
                  <a:tcPr marT="36576" marB="36576">
                    <a:solidFill>
                      <a:srgbClr val="F5F5F4"/>
                    </a:solidFill>
                  </a:tcPr>
                </a:tc>
                <a:tc>
                  <a:txBody>
                    <a:bodyPr/>
                    <a:lstStyle/>
                    <a:p>
                      <a:r>
                        <a:rPr sz="1100" b="0">
                          <a:solidFill>
                            <a:srgbClr val="0C111D"/>
                          </a:solidFill>
                          <a:latin typeface="Arial"/>
                        </a:rPr>
                        <a:t>Dựng prototype Chat API</a:t>
                      </a:r>
                    </a:p>
                  </a:txBody>
                  <a:tcPr marT="36576" marB="36576">
                    <a:solidFill>
                      <a:srgbClr val="F5F5F4"/>
                    </a:solidFill>
                  </a:tcPr>
                </a:tc>
                <a:tc>
                  <a:txBody>
                    <a:bodyPr/>
                    <a:lstStyle/>
                    <a:p>
                      <a:r>
                        <a:rPr sz="1100" b="0">
                          <a:solidFill>
                            <a:srgbClr val="0C111D"/>
                          </a:solidFill>
                          <a:latin typeface="Arial"/>
                        </a:rPr>
                        <a:t>AI engineer</a:t>
                      </a:r>
                    </a:p>
                  </a:txBody>
                  <a:tcPr marT="36576" marB="36576">
                    <a:solidFill>
                      <a:srgbClr val="F5F5F4"/>
                    </a:solidFill>
                  </a:tcPr>
                </a:tc>
                <a:tc>
                  <a:txBody>
                    <a:bodyPr/>
                    <a:lstStyle/>
                    <a:p>
                      <a:r>
                        <a:rPr sz="1100" b="0">
                          <a:solidFill>
                            <a:srgbClr val="0C111D"/>
                          </a:solidFill>
                          <a:latin typeface="Arial"/>
                        </a:rPr>
                        <a:t>2</a:t>
                      </a:r>
                    </a:p>
                  </a:txBody>
                  <a:tcPr marT="36576" marB="36576">
                    <a:solidFill>
                      <a:srgbClr val="F5F5F4"/>
                    </a:solidFill>
                  </a:tcPr>
                </a:tc>
              </a:tr>
              <a:tr h="365760">
                <a:tc>
                  <a:txBody>
                    <a:bodyPr/>
                    <a:lstStyle/>
                    <a:p>
                      <a:r>
                        <a:rPr sz="1100" b="0">
                          <a:solidFill>
                            <a:srgbClr val="0C111D"/>
                          </a:solidFill>
                          <a:latin typeface="Arial"/>
                        </a:rPr>
                        <a:t>1.5</a:t>
                      </a:r>
                    </a:p>
                  </a:txBody>
                  <a:tcPr marT="36576" marB="36576">
                    <a:solidFill>
                      <a:srgbClr val="FFFFFF"/>
                    </a:solidFill>
                  </a:tcPr>
                </a:tc>
                <a:tc>
                  <a:txBody>
                    <a:bodyPr/>
                    <a:lstStyle/>
                    <a:p>
                      <a:r>
                        <a:rPr sz="1100" b="0">
                          <a:solidFill>
                            <a:srgbClr val="0C111D"/>
                          </a:solidFill>
                          <a:latin typeface="Arial"/>
                        </a:rPr>
                        <a:t>PoC</a:t>
                      </a:r>
                    </a:p>
                  </a:txBody>
                  <a:tcPr marT="36576" marB="36576">
                    <a:solidFill>
                      <a:srgbClr val="FFFFFF"/>
                    </a:solidFill>
                  </a:tcPr>
                </a:tc>
                <a:tc>
                  <a:txBody>
                    <a:bodyPr/>
                    <a:lstStyle/>
                    <a:p>
                      <a:r>
                        <a:rPr sz="1100" b="0">
                          <a:solidFill>
                            <a:srgbClr val="0C111D"/>
                          </a:solidFill>
                          <a:latin typeface="Arial"/>
                        </a:rPr>
                        <a:t>Đánh giá kết quả PoC</a:t>
                      </a:r>
                    </a:p>
                  </a:txBody>
                  <a:tcPr marT="36576" marB="36576">
                    <a:solidFill>
                      <a:srgbClr val="FFFFFF"/>
                    </a:solidFill>
                  </a:tcPr>
                </a:tc>
                <a:tc>
                  <a:txBody>
                    <a:bodyPr/>
                    <a:lstStyle/>
                    <a:p>
                      <a:r>
                        <a:rPr sz="1100" b="0">
                          <a:solidFill>
                            <a:srgbClr val="0C111D"/>
                          </a:solidFill>
                          <a:latin typeface="Arial"/>
                        </a:rPr>
                        <a:t>AI engineer</a:t>
                      </a:r>
                    </a:p>
                  </a:txBody>
                  <a:tcPr marT="36576" marB="36576">
                    <a:solidFill>
                      <a:srgbClr val="FFFFFF"/>
                    </a:solidFill>
                  </a:tcPr>
                </a:tc>
                <a:tc>
                  <a:txBody>
                    <a:bodyPr/>
                    <a:lstStyle/>
                    <a:p>
                      <a:r>
                        <a:rPr sz="1100" b="0">
                          <a:solidFill>
                            <a:srgbClr val="0C111D"/>
                          </a:solidFill>
                          <a:latin typeface="Arial"/>
                        </a:rPr>
                        <a:t>2</a:t>
                      </a:r>
                    </a:p>
                  </a:txBody>
                  <a:tcPr marT="36576" marB="36576">
                    <a:solidFill>
                      <a:srgbClr val="FFFFFF"/>
                    </a:solidFill>
                  </a:tcPr>
                </a:tc>
              </a:tr>
              <a:tr h="365760">
                <a:tc>
                  <a:txBody>
                    <a:bodyPr/>
                    <a:lstStyle/>
                    <a:p>
                      <a:r>
                        <a:rPr sz="1100" b="0">
                          <a:solidFill>
                            <a:srgbClr val="0C111D"/>
                          </a:solidFill>
                          <a:latin typeface="Arial"/>
                        </a:rPr>
                        <a:t>1.6</a:t>
                      </a:r>
                    </a:p>
                  </a:txBody>
                  <a:tcPr marT="36576" marB="36576">
                    <a:solidFill>
                      <a:srgbClr val="F5F5F4"/>
                    </a:solidFill>
                  </a:tcPr>
                </a:tc>
                <a:tc>
                  <a:txBody>
                    <a:bodyPr/>
                    <a:lstStyle/>
                    <a:p>
                      <a:r>
                        <a:rPr sz="1100" b="0">
                          <a:solidFill>
                            <a:srgbClr val="0C111D"/>
                          </a:solidFill>
                          <a:latin typeface="Arial"/>
                        </a:rPr>
                        <a:t>PoC</a:t>
                      </a:r>
                    </a:p>
                  </a:txBody>
                  <a:tcPr marT="36576" marB="36576">
                    <a:solidFill>
                      <a:srgbClr val="F5F5F4"/>
                    </a:solidFill>
                  </a:tcPr>
                </a:tc>
                <a:tc>
                  <a:txBody>
                    <a:bodyPr/>
                    <a:lstStyle/>
                    <a:p>
                      <a:r>
                        <a:rPr sz="1100" b="0">
                          <a:solidFill>
                            <a:srgbClr val="0C111D"/>
                          </a:solidFill>
                          <a:latin typeface="Arial"/>
                        </a:rPr>
                        <a:t>Test và nghiệm thu PoC</a:t>
                      </a:r>
                    </a:p>
                  </a:txBody>
                  <a:tcPr marT="36576" marB="36576">
                    <a:solidFill>
                      <a:srgbClr val="F5F5F4"/>
                    </a:solidFill>
                  </a:tcPr>
                </a:tc>
                <a:tc>
                  <a:txBody>
                    <a:bodyPr/>
                    <a:lstStyle/>
                    <a:p>
                      <a:r>
                        <a:rPr sz="1100" b="0">
                          <a:solidFill>
                            <a:srgbClr val="0C111D"/>
                          </a:solidFill>
                          <a:latin typeface="Arial"/>
                        </a:rPr>
                        <a:t>QA / Test</a:t>
                      </a:r>
                    </a:p>
                  </a:txBody>
                  <a:tcPr marT="36576" marB="36576">
                    <a:solidFill>
                      <a:srgbClr val="F5F5F4"/>
                    </a:solidFill>
                  </a:tcPr>
                </a:tc>
                <a:tc>
                  <a:txBody>
                    <a:bodyPr/>
                    <a:lstStyle/>
                    <a:p>
                      <a:r>
                        <a:rPr sz="1100" b="0">
                          <a:solidFill>
                            <a:srgbClr val="0C111D"/>
                          </a:solidFill>
                          <a:latin typeface="Arial"/>
                        </a:rPr>
                        <a:t>2</a:t>
                      </a:r>
                    </a:p>
                  </a:txBody>
                  <a:tcPr marT="36576" marB="36576">
                    <a:solidFill>
                      <a:srgbClr val="F5F5F4"/>
                    </a:solidFill>
                  </a:tcPr>
                </a:tc>
              </a:tr>
              <a:tr h="365760">
                <a:tc>
                  <a:txBody>
                    <a:bodyPr/>
                    <a:lstStyle/>
                    <a:p>
                      <a:r>
                        <a:rPr sz="1100" b="0">
                          <a:solidFill>
                            <a:srgbClr val="0C111D"/>
                          </a:solidFill>
                          <a:latin typeface="Arial"/>
                        </a:rPr>
                        <a:t>2.1</a:t>
                      </a:r>
                    </a:p>
                  </a:txBody>
                  <a:tcPr marT="36576" marB="36576">
                    <a:solidFill>
                      <a:srgbClr val="FFFFFF"/>
                    </a:solidFill>
                  </a:tcPr>
                </a:tc>
                <a:tc>
                  <a:txBody>
                    <a:bodyPr/>
                    <a:lstStyle/>
                    <a:p>
                      <a:r>
                        <a:rPr sz="1100" b="0">
                          <a:solidFill>
                            <a:srgbClr val="0C111D"/>
                          </a:solidFill>
                          <a:latin typeface="Arial"/>
                        </a:rPr>
                        <a:t>MVP</a:t>
                      </a:r>
                    </a:p>
                  </a:txBody>
                  <a:tcPr marT="36576" marB="36576">
                    <a:solidFill>
                      <a:srgbClr val="FFFFFF"/>
                    </a:solidFill>
                  </a:tcPr>
                </a:tc>
                <a:tc>
                  <a:txBody>
                    <a:bodyPr/>
                    <a:lstStyle/>
                    <a:p>
                      <a:r>
                        <a:rPr sz="1100" b="0">
                          <a:solidFill>
                            <a:srgbClr val="0C111D"/>
                          </a:solidFill>
                          <a:latin typeface="Arial"/>
                        </a:rPr>
                        <a:t>Quản lý dự án MVP</a:t>
                      </a:r>
                    </a:p>
                  </a:txBody>
                  <a:tcPr marT="36576" marB="36576">
                    <a:solidFill>
                      <a:srgbClr val="FFFFFF"/>
                    </a:solidFill>
                  </a:tcPr>
                </a:tc>
                <a:tc>
                  <a:txBody>
                    <a:bodyPr/>
                    <a:lstStyle/>
                    <a:p>
                      <a:r>
                        <a:rPr sz="1100" b="0">
                          <a:solidFill>
                            <a:srgbClr val="0C111D"/>
                          </a:solidFill>
                          <a:latin typeface="Arial"/>
                        </a:rPr>
                        <a:t>PM</a:t>
                      </a:r>
                    </a:p>
                  </a:txBody>
                  <a:tcPr marT="36576" marB="36576">
                    <a:solidFill>
                      <a:srgbClr val="FFFFFF"/>
                    </a:solidFill>
                  </a:tcPr>
                </a:tc>
                <a:tc>
                  <a:txBody>
                    <a:bodyPr/>
                    <a:lstStyle/>
                    <a:p>
                      <a:r>
                        <a:rPr sz="1100" b="0">
                          <a:solidFill>
                            <a:srgbClr val="0C111D"/>
                          </a:solidFill>
                          <a:latin typeface="Arial"/>
                        </a:rPr>
                        <a:t>5</a:t>
                      </a:r>
                    </a:p>
                  </a:txBody>
                  <a:tcPr marT="36576" marB="36576">
                    <a:solidFill>
                      <a:srgbClr val="FFFFFF"/>
                    </a:solidFill>
                  </a:tcPr>
                </a:tc>
              </a:tr>
              <a:tr h="365760">
                <a:tc>
                  <a:txBody>
                    <a:bodyPr/>
                    <a:lstStyle/>
                    <a:p>
                      <a:r>
                        <a:rPr sz="1100" b="0">
                          <a:solidFill>
                            <a:srgbClr val="0C111D"/>
                          </a:solidFill>
                          <a:latin typeface="Arial"/>
                        </a:rPr>
                        <a:t>2.2</a:t>
                      </a:r>
                    </a:p>
                  </a:txBody>
                  <a:tcPr marT="36576" marB="36576">
                    <a:solidFill>
                      <a:srgbClr val="F5F5F4"/>
                    </a:solidFill>
                  </a:tcPr>
                </a:tc>
                <a:tc>
                  <a:txBody>
                    <a:bodyPr/>
                    <a:lstStyle/>
                    <a:p>
                      <a:r>
                        <a:rPr sz="1100" b="0">
                          <a:solidFill>
                            <a:srgbClr val="0C111D"/>
                          </a:solidFill>
                          <a:latin typeface="Arial"/>
                        </a:rPr>
                        <a:t>MVP</a:t>
                      </a:r>
                    </a:p>
                  </a:txBody>
                  <a:tcPr marT="36576" marB="36576">
                    <a:solidFill>
                      <a:srgbClr val="F5F5F4"/>
                    </a:solidFill>
                  </a:tcPr>
                </a:tc>
                <a:tc>
                  <a:txBody>
                    <a:bodyPr/>
                    <a:lstStyle/>
                    <a:p>
                      <a:r>
                        <a:rPr sz="1100" b="0">
                          <a:solidFill>
                            <a:srgbClr val="0C111D"/>
                          </a:solidFill>
                          <a:latin typeface="Arial"/>
                        </a:rPr>
                        <a:t>Phân tích &amp; thiết kế chi tiết</a:t>
                      </a:r>
                    </a:p>
                  </a:txBody>
                  <a:tcPr marT="36576" marB="36576">
                    <a:solidFill>
                      <a:srgbClr val="F5F5F4"/>
                    </a:solidFill>
                  </a:tcPr>
                </a:tc>
                <a:tc>
                  <a:txBody>
                    <a:bodyPr/>
                    <a:lstStyle/>
                    <a:p>
                      <a:r>
                        <a:rPr sz="1100" b="0">
                          <a:solidFill>
                            <a:srgbClr val="0C111D"/>
                          </a:solidFill>
                          <a:latin typeface="Arial"/>
                        </a:rPr>
                        <a:t>BA</a:t>
                      </a:r>
                    </a:p>
                  </a:txBody>
                  <a:tcPr marT="36576" marB="36576">
                    <a:solidFill>
                      <a:srgbClr val="F5F5F4"/>
                    </a:solidFill>
                  </a:tcPr>
                </a:tc>
                <a:tc>
                  <a:txBody>
                    <a:bodyPr/>
                    <a:lstStyle/>
                    <a:p>
                      <a:r>
                        <a:rPr sz="1100" b="0">
                          <a:solidFill>
                            <a:srgbClr val="0C111D"/>
                          </a:solidFill>
                          <a:latin typeface="Arial"/>
                        </a:rPr>
                        <a:t>5</a:t>
                      </a:r>
                    </a:p>
                  </a:txBody>
                  <a:tcPr marT="36576" marB="36576">
                    <a:solidFill>
                      <a:srgbClr val="F5F5F4"/>
                    </a:solidFill>
                  </a:tcPr>
                </a:tc>
              </a:tr>
              <a:tr h="365760">
                <a:tc>
                  <a:txBody>
                    <a:bodyPr/>
                    <a:lstStyle/>
                    <a:p>
                      <a:r>
                        <a:rPr sz="1100" b="0">
                          <a:solidFill>
                            <a:srgbClr val="0C111D"/>
                          </a:solidFill>
                          <a:latin typeface="Arial"/>
                        </a:rPr>
                        <a:t>2.3</a:t>
                      </a:r>
                    </a:p>
                  </a:txBody>
                  <a:tcPr marT="36576" marB="36576">
                    <a:solidFill>
                      <a:srgbClr val="FFFFFF"/>
                    </a:solidFill>
                  </a:tcPr>
                </a:tc>
                <a:tc>
                  <a:txBody>
                    <a:bodyPr/>
                    <a:lstStyle/>
                    <a:p>
                      <a:r>
                        <a:rPr sz="1100" b="0">
                          <a:solidFill>
                            <a:srgbClr val="0C111D"/>
                          </a:solidFill>
                          <a:latin typeface="Arial"/>
                        </a:rPr>
                        <a:t>MVP</a:t>
                      </a:r>
                    </a:p>
                  </a:txBody>
                  <a:tcPr marT="36576" marB="36576">
                    <a:solidFill>
                      <a:srgbClr val="FFFFFF"/>
                    </a:solidFill>
                  </a:tcPr>
                </a:tc>
                <a:tc>
                  <a:txBody>
                    <a:bodyPr/>
                    <a:lstStyle/>
                    <a:p>
                      <a:r>
                        <a:rPr sz="1100" b="0">
                          <a:solidFill>
                            <a:srgbClr val="0C111D"/>
                          </a:solidFill>
                          <a:latin typeface="Arial"/>
                        </a:rPr>
                        <a:t>Chuẩn bị &amp; làm sạch dữ liệu</a:t>
                      </a:r>
                    </a:p>
                  </a:txBody>
                  <a:tcPr marT="36576" marB="36576">
                    <a:solidFill>
                      <a:srgbClr val="FFFFFF"/>
                    </a:solidFill>
                  </a:tcPr>
                </a:tc>
                <a:tc>
                  <a:txBody>
                    <a:bodyPr/>
                    <a:lstStyle/>
                    <a:p>
                      <a:r>
                        <a:rPr sz="1100" b="0">
                          <a:solidFill>
                            <a:srgbClr val="0C111D"/>
                          </a:solidFill>
                          <a:latin typeface="Arial"/>
                        </a:rPr>
                        <a:t>Data engineer</a:t>
                      </a:r>
                    </a:p>
                  </a:txBody>
                  <a:tcPr marT="36576" marB="36576">
                    <a:solidFill>
                      <a:srgbClr val="FFFFFF"/>
                    </a:solidFill>
                  </a:tcPr>
                </a:tc>
                <a:tc>
                  <a:txBody>
                    <a:bodyPr/>
                    <a:lstStyle/>
                    <a:p>
                      <a:r>
                        <a:rPr sz="1100" b="0">
                          <a:solidFill>
                            <a:srgbClr val="0C111D"/>
                          </a:solidFill>
                          <a:latin typeface="Arial"/>
                        </a:rPr>
                        <a:t>5</a:t>
                      </a:r>
                    </a:p>
                  </a:txBody>
                  <a:tcPr marT="36576" marB="36576">
                    <a:solidFill>
                      <a:srgbClr val="FFFFFF"/>
                    </a:solidFill>
                  </a:tcPr>
                </a:tc>
              </a:tr>
              <a:tr h="365760">
                <a:tc>
                  <a:txBody>
                    <a:bodyPr/>
                    <a:lstStyle/>
                    <a:p>
                      <a:r>
                        <a:rPr sz="1100" b="0">
                          <a:solidFill>
                            <a:srgbClr val="0C111D"/>
                          </a:solidFill>
                          <a:latin typeface="Arial"/>
                        </a:rPr>
                        <a:t>2.4</a:t>
                      </a:r>
                    </a:p>
                  </a:txBody>
                  <a:tcPr marT="36576" marB="36576">
                    <a:solidFill>
                      <a:srgbClr val="F5F5F4"/>
                    </a:solidFill>
                  </a:tcPr>
                </a:tc>
                <a:tc>
                  <a:txBody>
                    <a:bodyPr/>
                    <a:lstStyle/>
                    <a:p>
                      <a:r>
                        <a:rPr sz="1100" b="0">
                          <a:solidFill>
                            <a:srgbClr val="0C111D"/>
                          </a:solidFill>
                          <a:latin typeface="Arial"/>
                        </a:rPr>
                        <a:t>MVP</a:t>
                      </a:r>
                    </a:p>
                  </a:txBody>
                  <a:tcPr marT="36576" marB="36576">
                    <a:solidFill>
                      <a:srgbClr val="F5F5F4"/>
                    </a:solidFill>
                  </a:tcPr>
                </a:tc>
                <a:tc>
                  <a:txBody>
                    <a:bodyPr/>
                    <a:lstStyle/>
                    <a:p>
                      <a:r>
                        <a:rPr sz="1100" b="0">
                          <a:solidFill>
                            <a:srgbClr val="0C111D"/>
                          </a:solidFill>
                          <a:latin typeface="Arial"/>
                        </a:rPr>
                        <a:t>Xây dựng Chat API</a:t>
                      </a:r>
                    </a:p>
                  </a:txBody>
                  <a:tcPr marT="36576" marB="36576">
                    <a:solidFill>
                      <a:srgbClr val="F5F5F4"/>
                    </a:solidFill>
                  </a:tcPr>
                </a:tc>
                <a:tc>
                  <a:txBody>
                    <a:bodyPr/>
                    <a:lstStyle/>
                    <a:p>
                      <a:r>
                        <a:rPr sz="1100" b="0">
                          <a:solidFill>
                            <a:srgbClr val="0C111D"/>
                          </a:solidFill>
                          <a:latin typeface="Arial"/>
                        </a:rPr>
                        <a:t>AI engineer</a:t>
                      </a:r>
                    </a:p>
                  </a:txBody>
                  <a:tcPr marT="36576" marB="36576">
                    <a:solidFill>
                      <a:srgbClr val="F5F5F4"/>
                    </a:solidFill>
                  </a:tcPr>
                </a:tc>
                <a:tc>
                  <a:txBody>
                    <a:bodyPr/>
                    <a:lstStyle/>
                    <a:p>
                      <a:r>
                        <a:rPr sz="1100" b="0">
                          <a:solidFill>
                            <a:srgbClr val="0C111D"/>
                          </a:solidFill>
                          <a:latin typeface="Arial"/>
                        </a:rPr>
                        <a:t>5</a:t>
                      </a:r>
                    </a:p>
                  </a:txBody>
                  <a:tcPr marT="36576" marB="36576">
                    <a:solidFill>
                      <a:srgbClr val="F5F5F4"/>
                    </a:solidFill>
                  </a:tcPr>
                </a:tc>
              </a:tr>
              <a:tr h="365760">
                <a:tc>
                  <a:txBody>
                    <a:bodyPr/>
                    <a:lstStyle/>
                    <a:p>
                      <a:r>
                        <a:rPr sz="1100" b="0">
                          <a:solidFill>
                            <a:srgbClr val="0C111D"/>
                          </a:solidFill>
                          <a:latin typeface="Arial"/>
                        </a:rPr>
                        <a:t>2.5</a:t>
                      </a:r>
                    </a:p>
                  </a:txBody>
                  <a:tcPr marT="36576" marB="36576">
                    <a:solidFill>
                      <a:srgbClr val="FFFFFF"/>
                    </a:solidFill>
                  </a:tcPr>
                </a:tc>
                <a:tc>
                  <a:txBody>
                    <a:bodyPr/>
                    <a:lstStyle/>
                    <a:p>
                      <a:r>
                        <a:rPr sz="1100" b="0">
                          <a:solidFill>
                            <a:srgbClr val="0C111D"/>
                          </a:solidFill>
                          <a:latin typeface="Arial"/>
                        </a:rPr>
                        <a:t>MVP</a:t>
                      </a:r>
                    </a:p>
                  </a:txBody>
                  <a:tcPr marT="36576" marB="36576">
                    <a:solidFill>
                      <a:srgbClr val="FFFFFF"/>
                    </a:solidFill>
                  </a:tcPr>
                </a:tc>
                <a:tc>
                  <a:txBody>
                    <a:bodyPr/>
                    <a:lstStyle/>
                    <a:p>
                      <a:r>
                        <a:rPr sz="1100" b="0">
                          <a:solidFill>
                            <a:srgbClr val="0C111D"/>
                          </a:solidFill>
                          <a:latin typeface="Arial"/>
                        </a:rPr>
                        <a:t>Xây dựng Web chat</a:t>
                      </a:r>
                    </a:p>
                  </a:txBody>
                  <a:tcPr marT="36576" marB="36576">
                    <a:solidFill>
                      <a:srgbClr val="FFFFFF"/>
                    </a:solidFill>
                  </a:tcPr>
                </a:tc>
                <a:tc>
                  <a:txBody>
                    <a:bodyPr/>
                    <a:lstStyle/>
                    <a:p>
                      <a:r>
                        <a:rPr sz="1100" b="0">
                          <a:solidFill>
                            <a:srgbClr val="0C111D"/>
                          </a:solidFill>
                          <a:latin typeface="Arial"/>
                        </a:rPr>
                        <a:t>Backend</a:t>
                      </a:r>
                    </a:p>
                  </a:txBody>
                  <a:tcPr marT="36576" marB="36576">
                    <a:solidFill>
                      <a:srgbClr val="FFFFFF"/>
                    </a:solidFill>
                  </a:tcPr>
                </a:tc>
                <a:tc>
                  <a:txBody>
                    <a:bodyPr/>
                    <a:lstStyle/>
                    <a:p>
                      <a:r>
                        <a:rPr sz="1100" b="0">
                          <a:solidFill>
                            <a:srgbClr val="0C111D"/>
                          </a:solidFill>
                          <a:latin typeface="Arial"/>
                        </a:rPr>
                        <a:t>4</a:t>
                      </a:r>
                    </a:p>
                  </a:txBody>
                  <a:tcPr marT="36576" marB="36576">
                    <a:solidFill>
                      <a:srgbClr val="FFFFFF"/>
                    </a:solidFill>
                  </a:tcPr>
                </a:tc>
              </a:tr>
            </a:tbl>
          </a:graphicData>
        </a:graphic>
      </p:graphicFrame>
      <p:sp>
        <p:nvSpPr>
          <p:cNvPr id="8" name="TextBox 7"/>
          <p:cNvSpPr txBox="1"/>
          <p:nvPr/>
        </p:nvSpPr>
        <p:spPr>
          <a:xfrm>
            <a:off x="685800" y="5989320"/>
            <a:ext cx="10058400" cy="274320"/>
          </a:xfrm>
          <a:prstGeom prst="rect">
            <a:avLst/>
          </a:prstGeom>
          <a:noFill/>
        </p:spPr>
        <p:txBody>
          <a:bodyPr wrap="square">
            <a:spAutoFit/>
          </a:bodyPr>
          <a:lstStyle/>
          <a:p>
            <a:r>
              <a:rPr sz="1100" b="0">
                <a:solidFill>
                  <a:srgbClr val="6B7280"/>
                </a:solidFill>
                <a:latin typeface="Arial"/>
              </a:rPr>
              <a:t>… và 16 đầu việc khác (xem file Excel).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Timeline triển khai</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19/10/2026 → 05/01/2027 · 57 ngày làm việc (đã gồm buffer), tính bằng code từ WBS</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10</a:t>
            </a:r>
          </a:p>
        </p:txBody>
      </p:sp>
      <p:sp>
        <p:nvSpPr>
          <p:cNvPr id="7" name="TextBox 6"/>
          <p:cNvSpPr txBox="1"/>
          <p:nvPr/>
        </p:nvSpPr>
        <p:spPr>
          <a:xfrm>
            <a:off x="3794760" y="1234440"/>
            <a:ext cx="731520" cy="274320"/>
          </a:xfrm>
          <a:prstGeom prst="rect">
            <a:avLst/>
          </a:prstGeom>
          <a:noFill/>
        </p:spPr>
        <p:txBody>
          <a:bodyPr wrap="square">
            <a:spAutoFit/>
          </a:bodyPr>
          <a:lstStyle/>
          <a:p>
            <a:r>
              <a:rPr sz="900" b="0">
                <a:solidFill>
                  <a:srgbClr val="6B7280"/>
                </a:solidFill>
                <a:latin typeface="Arial"/>
              </a:rPr>
              <a:t>19/10</a:t>
            </a:r>
          </a:p>
        </p:txBody>
      </p:sp>
      <p:sp>
        <p:nvSpPr>
          <p:cNvPr id="8" name="TextBox 7"/>
          <p:cNvSpPr txBox="1"/>
          <p:nvPr/>
        </p:nvSpPr>
        <p:spPr>
          <a:xfrm>
            <a:off x="4438650" y="1234440"/>
            <a:ext cx="731520" cy="274320"/>
          </a:xfrm>
          <a:prstGeom prst="rect">
            <a:avLst/>
          </a:prstGeom>
          <a:noFill/>
        </p:spPr>
        <p:txBody>
          <a:bodyPr wrap="square">
            <a:spAutoFit/>
          </a:bodyPr>
          <a:lstStyle/>
          <a:p>
            <a:r>
              <a:rPr sz="900" b="0">
                <a:solidFill>
                  <a:srgbClr val="6B7280"/>
                </a:solidFill>
                <a:latin typeface="Arial"/>
              </a:rPr>
              <a:t>26/10</a:t>
            </a:r>
          </a:p>
        </p:txBody>
      </p:sp>
      <p:sp>
        <p:nvSpPr>
          <p:cNvPr id="9" name="TextBox 8"/>
          <p:cNvSpPr txBox="1"/>
          <p:nvPr/>
        </p:nvSpPr>
        <p:spPr>
          <a:xfrm>
            <a:off x="5082540" y="1234440"/>
            <a:ext cx="731520" cy="274320"/>
          </a:xfrm>
          <a:prstGeom prst="rect">
            <a:avLst/>
          </a:prstGeom>
          <a:noFill/>
        </p:spPr>
        <p:txBody>
          <a:bodyPr wrap="square">
            <a:spAutoFit/>
          </a:bodyPr>
          <a:lstStyle/>
          <a:p>
            <a:r>
              <a:rPr sz="900" b="0">
                <a:solidFill>
                  <a:srgbClr val="6B7280"/>
                </a:solidFill>
                <a:latin typeface="Arial"/>
              </a:rPr>
              <a:t>02/11</a:t>
            </a:r>
          </a:p>
        </p:txBody>
      </p:sp>
      <p:sp>
        <p:nvSpPr>
          <p:cNvPr id="10" name="TextBox 9"/>
          <p:cNvSpPr txBox="1"/>
          <p:nvPr/>
        </p:nvSpPr>
        <p:spPr>
          <a:xfrm>
            <a:off x="5726430" y="1234440"/>
            <a:ext cx="731520" cy="274320"/>
          </a:xfrm>
          <a:prstGeom prst="rect">
            <a:avLst/>
          </a:prstGeom>
          <a:noFill/>
        </p:spPr>
        <p:txBody>
          <a:bodyPr wrap="square">
            <a:spAutoFit/>
          </a:bodyPr>
          <a:lstStyle/>
          <a:p>
            <a:r>
              <a:rPr sz="900" b="0">
                <a:solidFill>
                  <a:srgbClr val="6B7280"/>
                </a:solidFill>
                <a:latin typeface="Arial"/>
              </a:rPr>
              <a:t>09/11</a:t>
            </a:r>
          </a:p>
        </p:txBody>
      </p:sp>
      <p:sp>
        <p:nvSpPr>
          <p:cNvPr id="11" name="TextBox 10"/>
          <p:cNvSpPr txBox="1"/>
          <p:nvPr/>
        </p:nvSpPr>
        <p:spPr>
          <a:xfrm>
            <a:off x="6370320" y="1234440"/>
            <a:ext cx="731520" cy="274320"/>
          </a:xfrm>
          <a:prstGeom prst="rect">
            <a:avLst/>
          </a:prstGeom>
          <a:noFill/>
        </p:spPr>
        <p:txBody>
          <a:bodyPr wrap="square">
            <a:spAutoFit/>
          </a:bodyPr>
          <a:lstStyle/>
          <a:p>
            <a:r>
              <a:rPr sz="900" b="0">
                <a:solidFill>
                  <a:srgbClr val="6B7280"/>
                </a:solidFill>
                <a:latin typeface="Arial"/>
              </a:rPr>
              <a:t>16/11</a:t>
            </a:r>
          </a:p>
        </p:txBody>
      </p:sp>
      <p:sp>
        <p:nvSpPr>
          <p:cNvPr id="12" name="TextBox 11"/>
          <p:cNvSpPr txBox="1"/>
          <p:nvPr/>
        </p:nvSpPr>
        <p:spPr>
          <a:xfrm>
            <a:off x="7014210" y="1234440"/>
            <a:ext cx="731520" cy="274320"/>
          </a:xfrm>
          <a:prstGeom prst="rect">
            <a:avLst/>
          </a:prstGeom>
          <a:noFill/>
        </p:spPr>
        <p:txBody>
          <a:bodyPr wrap="square">
            <a:spAutoFit/>
          </a:bodyPr>
          <a:lstStyle/>
          <a:p>
            <a:r>
              <a:rPr sz="900" b="0">
                <a:solidFill>
                  <a:srgbClr val="6B7280"/>
                </a:solidFill>
                <a:latin typeface="Arial"/>
              </a:rPr>
              <a:t>23/11</a:t>
            </a:r>
          </a:p>
        </p:txBody>
      </p:sp>
      <p:sp>
        <p:nvSpPr>
          <p:cNvPr id="13" name="TextBox 12"/>
          <p:cNvSpPr txBox="1"/>
          <p:nvPr/>
        </p:nvSpPr>
        <p:spPr>
          <a:xfrm>
            <a:off x="7658100" y="1234440"/>
            <a:ext cx="731520" cy="274320"/>
          </a:xfrm>
          <a:prstGeom prst="rect">
            <a:avLst/>
          </a:prstGeom>
          <a:noFill/>
        </p:spPr>
        <p:txBody>
          <a:bodyPr wrap="square">
            <a:spAutoFit/>
          </a:bodyPr>
          <a:lstStyle/>
          <a:p>
            <a:r>
              <a:rPr sz="900" b="0">
                <a:solidFill>
                  <a:srgbClr val="6B7280"/>
                </a:solidFill>
                <a:latin typeface="Arial"/>
              </a:rPr>
              <a:t>30/11</a:t>
            </a:r>
          </a:p>
        </p:txBody>
      </p:sp>
      <p:sp>
        <p:nvSpPr>
          <p:cNvPr id="14" name="TextBox 13"/>
          <p:cNvSpPr txBox="1"/>
          <p:nvPr/>
        </p:nvSpPr>
        <p:spPr>
          <a:xfrm>
            <a:off x="8301990" y="1234440"/>
            <a:ext cx="731520" cy="274320"/>
          </a:xfrm>
          <a:prstGeom prst="rect">
            <a:avLst/>
          </a:prstGeom>
          <a:noFill/>
        </p:spPr>
        <p:txBody>
          <a:bodyPr wrap="square">
            <a:spAutoFit/>
          </a:bodyPr>
          <a:lstStyle/>
          <a:p>
            <a:r>
              <a:rPr sz="900" b="0">
                <a:solidFill>
                  <a:srgbClr val="6B7280"/>
                </a:solidFill>
                <a:latin typeface="Arial"/>
              </a:rPr>
              <a:t>07/12</a:t>
            </a:r>
          </a:p>
        </p:txBody>
      </p:sp>
      <p:sp>
        <p:nvSpPr>
          <p:cNvPr id="15" name="TextBox 14"/>
          <p:cNvSpPr txBox="1"/>
          <p:nvPr/>
        </p:nvSpPr>
        <p:spPr>
          <a:xfrm>
            <a:off x="8945880" y="1234440"/>
            <a:ext cx="731520" cy="274320"/>
          </a:xfrm>
          <a:prstGeom prst="rect">
            <a:avLst/>
          </a:prstGeom>
          <a:noFill/>
        </p:spPr>
        <p:txBody>
          <a:bodyPr wrap="square">
            <a:spAutoFit/>
          </a:bodyPr>
          <a:lstStyle/>
          <a:p>
            <a:r>
              <a:rPr sz="900" b="0">
                <a:solidFill>
                  <a:srgbClr val="6B7280"/>
                </a:solidFill>
                <a:latin typeface="Arial"/>
              </a:rPr>
              <a:t>14/12</a:t>
            </a:r>
          </a:p>
        </p:txBody>
      </p:sp>
      <p:sp>
        <p:nvSpPr>
          <p:cNvPr id="16" name="TextBox 15"/>
          <p:cNvSpPr txBox="1"/>
          <p:nvPr/>
        </p:nvSpPr>
        <p:spPr>
          <a:xfrm>
            <a:off x="9589770" y="1234440"/>
            <a:ext cx="731520" cy="274320"/>
          </a:xfrm>
          <a:prstGeom prst="rect">
            <a:avLst/>
          </a:prstGeom>
          <a:noFill/>
        </p:spPr>
        <p:txBody>
          <a:bodyPr wrap="square">
            <a:spAutoFit/>
          </a:bodyPr>
          <a:lstStyle/>
          <a:p>
            <a:r>
              <a:rPr sz="900" b="0">
                <a:solidFill>
                  <a:srgbClr val="6B7280"/>
                </a:solidFill>
                <a:latin typeface="Arial"/>
              </a:rPr>
              <a:t>21/12</a:t>
            </a:r>
          </a:p>
        </p:txBody>
      </p:sp>
      <p:sp>
        <p:nvSpPr>
          <p:cNvPr id="17" name="TextBox 16"/>
          <p:cNvSpPr txBox="1"/>
          <p:nvPr/>
        </p:nvSpPr>
        <p:spPr>
          <a:xfrm>
            <a:off x="10233660" y="1234440"/>
            <a:ext cx="731520" cy="274320"/>
          </a:xfrm>
          <a:prstGeom prst="rect">
            <a:avLst/>
          </a:prstGeom>
          <a:noFill/>
        </p:spPr>
        <p:txBody>
          <a:bodyPr wrap="square">
            <a:spAutoFit/>
          </a:bodyPr>
          <a:lstStyle/>
          <a:p>
            <a:r>
              <a:rPr sz="900" b="0">
                <a:solidFill>
                  <a:srgbClr val="6B7280"/>
                </a:solidFill>
                <a:latin typeface="Arial"/>
              </a:rPr>
              <a:t>28/12</a:t>
            </a:r>
          </a:p>
        </p:txBody>
      </p:sp>
      <p:sp>
        <p:nvSpPr>
          <p:cNvPr id="18" name="TextBox 17"/>
          <p:cNvSpPr txBox="1"/>
          <p:nvPr/>
        </p:nvSpPr>
        <p:spPr>
          <a:xfrm>
            <a:off x="10877550" y="1234440"/>
            <a:ext cx="731520" cy="274320"/>
          </a:xfrm>
          <a:prstGeom prst="rect">
            <a:avLst/>
          </a:prstGeom>
          <a:noFill/>
        </p:spPr>
        <p:txBody>
          <a:bodyPr wrap="square">
            <a:spAutoFit/>
          </a:bodyPr>
          <a:lstStyle/>
          <a:p>
            <a:r>
              <a:rPr sz="900" b="0">
                <a:solidFill>
                  <a:srgbClr val="6B7280"/>
                </a:solidFill>
                <a:latin typeface="Arial"/>
              </a:rPr>
              <a:t>04/01</a:t>
            </a:r>
          </a:p>
        </p:txBody>
      </p:sp>
      <p:sp>
        <p:nvSpPr>
          <p:cNvPr id="19" name="TextBox 18"/>
          <p:cNvSpPr txBox="1"/>
          <p:nvPr/>
        </p:nvSpPr>
        <p:spPr>
          <a:xfrm>
            <a:off x="685800" y="1563624"/>
            <a:ext cx="3017520" cy="268224"/>
          </a:xfrm>
          <a:prstGeom prst="rect">
            <a:avLst/>
          </a:prstGeom>
          <a:noFill/>
        </p:spPr>
        <p:txBody>
          <a:bodyPr wrap="square">
            <a:spAutoFit/>
          </a:bodyPr>
          <a:lstStyle/>
          <a:p>
            <a:r>
              <a:rPr sz="1000" b="0">
                <a:solidFill>
                  <a:srgbClr val="0C111D"/>
                </a:solidFill>
                <a:latin typeface="Arial"/>
              </a:rPr>
              <a:t>1.1 Kick-off và quản lý PoC</a:t>
            </a:r>
          </a:p>
        </p:txBody>
      </p:sp>
      <p:sp>
        <p:nvSpPr>
          <p:cNvPr id="20" name="Rounded Rectangle 19"/>
          <p:cNvSpPr/>
          <p:nvPr/>
        </p:nvSpPr>
        <p:spPr>
          <a:xfrm>
            <a:off x="3794760" y="1636776"/>
            <a:ext cx="183968" cy="195072"/>
          </a:xfrm>
          <a:prstGeom prst="roundRect">
            <a:avLst>
              <a:gd name="adj" fmla="val 30000"/>
            </a:avLst>
          </a:prstGeom>
          <a:solidFill>
            <a:srgbClr val="F8B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1831848"/>
            <a:ext cx="3017520" cy="268224"/>
          </a:xfrm>
          <a:prstGeom prst="rect">
            <a:avLst/>
          </a:prstGeom>
          <a:noFill/>
        </p:spPr>
        <p:txBody>
          <a:bodyPr wrap="square">
            <a:spAutoFit/>
          </a:bodyPr>
          <a:lstStyle/>
          <a:p>
            <a:r>
              <a:rPr sz="1000" b="0">
                <a:solidFill>
                  <a:srgbClr val="0C111D"/>
                </a:solidFill>
                <a:latin typeface="Arial"/>
              </a:rPr>
              <a:t>1.2 Khảo sát dữ liệu &amp; yêu cầu</a:t>
            </a:r>
          </a:p>
        </p:txBody>
      </p:sp>
      <p:sp>
        <p:nvSpPr>
          <p:cNvPr id="22" name="Rounded Rectangle 21"/>
          <p:cNvSpPr/>
          <p:nvPr/>
        </p:nvSpPr>
        <p:spPr>
          <a:xfrm>
            <a:off x="3794760" y="1905000"/>
            <a:ext cx="183968" cy="195072"/>
          </a:xfrm>
          <a:prstGeom prst="roundRect">
            <a:avLst>
              <a:gd name="adj" fmla="val 30000"/>
            </a:avLst>
          </a:prstGeom>
          <a:solidFill>
            <a:srgbClr val="F8B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2100072"/>
            <a:ext cx="3017520" cy="268224"/>
          </a:xfrm>
          <a:prstGeom prst="rect">
            <a:avLst/>
          </a:prstGeom>
          <a:noFill/>
        </p:spPr>
        <p:txBody>
          <a:bodyPr wrap="square">
            <a:spAutoFit/>
          </a:bodyPr>
          <a:lstStyle/>
          <a:p>
            <a:r>
              <a:rPr sz="1000" b="0">
                <a:solidFill>
                  <a:srgbClr val="0C111D"/>
                </a:solidFill>
                <a:latin typeface="Arial"/>
              </a:rPr>
              <a:t>1.3 Chuẩn bị dữ liệu mẫu</a:t>
            </a:r>
          </a:p>
        </p:txBody>
      </p:sp>
      <p:sp>
        <p:nvSpPr>
          <p:cNvPr id="24" name="Rounded Rectangle 23"/>
          <p:cNvSpPr/>
          <p:nvPr/>
        </p:nvSpPr>
        <p:spPr>
          <a:xfrm>
            <a:off x="3978728" y="2173224"/>
            <a:ext cx="183969" cy="195072"/>
          </a:xfrm>
          <a:prstGeom prst="roundRect">
            <a:avLst>
              <a:gd name="adj" fmla="val 30000"/>
            </a:avLst>
          </a:prstGeom>
          <a:solidFill>
            <a:srgbClr val="F8B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2368296"/>
            <a:ext cx="3017520" cy="268224"/>
          </a:xfrm>
          <a:prstGeom prst="rect">
            <a:avLst/>
          </a:prstGeom>
          <a:noFill/>
        </p:spPr>
        <p:txBody>
          <a:bodyPr wrap="square">
            <a:spAutoFit/>
          </a:bodyPr>
          <a:lstStyle/>
          <a:p>
            <a:r>
              <a:rPr sz="1000" b="0">
                <a:solidFill>
                  <a:srgbClr val="0C111D"/>
                </a:solidFill>
                <a:latin typeface="Arial"/>
              </a:rPr>
              <a:t>1.4 Dựng prototype Chat API</a:t>
            </a:r>
          </a:p>
        </p:txBody>
      </p:sp>
      <p:sp>
        <p:nvSpPr>
          <p:cNvPr id="26" name="Rounded Rectangle 25"/>
          <p:cNvSpPr/>
          <p:nvPr/>
        </p:nvSpPr>
        <p:spPr>
          <a:xfrm>
            <a:off x="3978728" y="2441448"/>
            <a:ext cx="91984" cy="195072"/>
          </a:xfrm>
          <a:prstGeom prst="roundRect">
            <a:avLst>
              <a:gd name="adj" fmla="val 30000"/>
            </a:avLst>
          </a:prstGeom>
          <a:solidFill>
            <a:srgbClr val="F8B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636520"/>
            <a:ext cx="3017520" cy="268224"/>
          </a:xfrm>
          <a:prstGeom prst="rect">
            <a:avLst/>
          </a:prstGeom>
          <a:noFill/>
        </p:spPr>
        <p:txBody>
          <a:bodyPr wrap="square">
            <a:spAutoFit/>
          </a:bodyPr>
          <a:lstStyle/>
          <a:p>
            <a:r>
              <a:rPr sz="1000" b="0">
                <a:solidFill>
                  <a:srgbClr val="0C111D"/>
                </a:solidFill>
                <a:latin typeface="Arial"/>
              </a:rPr>
              <a:t>1.5 Đánh giá kết quả PoC</a:t>
            </a:r>
          </a:p>
        </p:txBody>
      </p:sp>
      <p:sp>
        <p:nvSpPr>
          <p:cNvPr id="28" name="Rounded Rectangle 27"/>
          <p:cNvSpPr/>
          <p:nvPr/>
        </p:nvSpPr>
        <p:spPr>
          <a:xfrm>
            <a:off x="3978728" y="2709672"/>
            <a:ext cx="91984" cy="195072"/>
          </a:xfrm>
          <a:prstGeom prst="roundRect">
            <a:avLst>
              <a:gd name="adj" fmla="val 30000"/>
            </a:avLst>
          </a:prstGeom>
          <a:solidFill>
            <a:srgbClr val="F8B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2904744"/>
            <a:ext cx="3017520" cy="268224"/>
          </a:xfrm>
          <a:prstGeom prst="rect">
            <a:avLst/>
          </a:prstGeom>
          <a:noFill/>
        </p:spPr>
        <p:txBody>
          <a:bodyPr wrap="square">
            <a:spAutoFit/>
          </a:bodyPr>
          <a:lstStyle/>
          <a:p>
            <a:r>
              <a:rPr sz="1000" b="0">
                <a:solidFill>
                  <a:srgbClr val="0C111D"/>
                </a:solidFill>
                <a:latin typeface="Arial"/>
              </a:rPr>
              <a:t>1.6 Test và nghiệm thu PoC</a:t>
            </a:r>
          </a:p>
        </p:txBody>
      </p:sp>
      <p:sp>
        <p:nvSpPr>
          <p:cNvPr id="30" name="Rounded Rectangle 29"/>
          <p:cNvSpPr/>
          <p:nvPr/>
        </p:nvSpPr>
        <p:spPr>
          <a:xfrm>
            <a:off x="4162697" y="2977896"/>
            <a:ext cx="367937" cy="195072"/>
          </a:xfrm>
          <a:prstGeom prst="roundRect">
            <a:avLst>
              <a:gd name="adj" fmla="val 30000"/>
            </a:avLst>
          </a:prstGeom>
          <a:solidFill>
            <a:srgbClr val="F8B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3172968"/>
            <a:ext cx="3017520" cy="268224"/>
          </a:xfrm>
          <a:prstGeom prst="rect">
            <a:avLst/>
          </a:prstGeom>
          <a:noFill/>
        </p:spPr>
        <p:txBody>
          <a:bodyPr wrap="square">
            <a:spAutoFit/>
          </a:bodyPr>
          <a:lstStyle/>
          <a:p>
            <a:r>
              <a:rPr sz="1000" b="0">
                <a:solidFill>
                  <a:srgbClr val="0C111D"/>
                </a:solidFill>
                <a:latin typeface="Arial"/>
              </a:rPr>
              <a:t>2.1 Quản lý dự án MVP</a:t>
            </a:r>
          </a:p>
        </p:txBody>
      </p:sp>
      <p:sp>
        <p:nvSpPr>
          <p:cNvPr id="32" name="Rounded Rectangle 31"/>
          <p:cNvSpPr/>
          <p:nvPr/>
        </p:nvSpPr>
        <p:spPr>
          <a:xfrm>
            <a:off x="4622618" y="3246120"/>
            <a:ext cx="643890" cy="195072"/>
          </a:xfrm>
          <a:prstGeom prst="roundRect">
            <a:avLst>
              <a:gd name="adj" fmla="val 30000"/>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3441192"/>
            <a:ext cx="3017520" cy="268224"/>
          </a:xfrm>
          <a:prstGeom prst="rect">
            <a:avLst/>
          </a:prstGeom>
          <a:noFill/>
        </p:spPr>
        <p:txBody>
          <a:bodyPr wrap="square">
            <a:spAutoFit/>
          </a:bodyPr>
          <a:lstStyle/>
          <a:p>
            <a:r>
              <a:rPr sz="1000" b="0">
                <a:solidFill>
                  <a:srgbClr val="0C111D"/>
                </a:solidFill>
                <a:latin typeface="Arial"/>
              </a:rPr>
              <a:t>2.2 Phân tích &amp; thiết kế chi tiết</a:t>
            </a:r>
          </a:p>
        </p:txBody>
      </p:sp>
      <p:sp>
        <p:nvSpPr>
          <p:cNvPr id="34" name="Rounded Rectangle 33"/>
          <p:cNvSpPr/>
          <p:nvPr/>
        </p:nvSpPr>
        <p:spPr>
          <a:xfrm>
            <a:off x="4622618" y="3514344"/>
            <a:ext cx="643890" cy="195072"/>
          </a:xfrm>
          <a:prstGeom prst="roundRect">
            <a:avLst>
              <a:gd name="adj" fmla="val 30000"/>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3709416"/>
            <a:ext cx="3017520" cy="268224"/>
          </a:xfrm>
          <a:prstGeom prst="rect">
            <a:avLst/>
          </a:prstGeom>
          <a:noFill/>
        </p:spPr>
        <p:txBody>
          <a:bodyPr wrap="square">
            <a:spAutoFit/>
          </a:bodyPr>
          <a:lstStyle/>
          <a:p>
            <a:r>
              <a:rPr sz="1000" b="0">
                <a:solidFill>
                  <a:srgbClr val="0C111D"/>
                </a:solidFill>
                <a:latin typeface="Arial"/>
              </a:rPr>
              <a:t>2.3 Chuẩn bị &amp; làm sạch dữ liệu</a:t>
            </a:r>
          </a:p>
        </p:txBody>
      </p:sp>
      <p:sp>
        <p:nvSpPr>
          <p:cNvPr id="36" name="Rounded Rectangle 35"/>
          <p:cNvSpPr/>
          <p:nvPr/>
        </p:nvSpPr>
        <p:spPr>
          <a:xfrm>
            <a:off x="5266508" y="3782568"/>
            <a:ext cx="643890" cy="195072"/>
          </a:xfrm>
          <a:prstGeom prst="roundRect">
            <a:avLst>
              <a:gd name="adj" fmla="val 30000"/>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3977640"/>
            <a:ext cx="3017520" cy="268224"/>
          </a:xfrm>
          <a:prstGeom prst="rect">
            <a:avLst/>
          </a:prstGeom>
          <a:noFill/>
        </p:spPr>
        <p:txBody>
          <a:bodyPr wrap="square">
            <a:spAutoFit/>
          </a:bodyPr>
          <a:lstStyle/>
          <a:p>
            <a:r>
              <a:rPr sz="1000" b="0">
                <a:solidFill>
                  <a:srgbClr val="0C111D"/>
                </a:solidFill>
                <a:latin typeface="Arial"/>
              </a:rPr>
              <a:t>2.4 Xây dựng Chat API</a:t>
            </a:r>
          </a:p>
        </p:txBody>
      </p:sp>
      <p:sp>
        <p:nvSpPr>
          <p:cNvPr id="38" name="Rounded Rectangle 37"/>
          <p:cNvSpPr/>
          <p:nvPr/>
        </p:nvSpPr>
        <p:spPr>
          <a:xfrm>
            <a:off x="5266508" y="4050792"/>
            <a:ext cx="275953" cy="195072"/>
          </a:xfrm>
          <a:prstGeom prst="roundRect">
            <a:avLst>
              <a:gd name="adj" fmla="val 30000"/>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4245864"/>
            <a:ext cx="3017520" cy="268224"/>
          </a:xfrm>
          <a:prstGeom prst="rect">
            <a:avLst/>
          </a:prstGeom>
          <a:noFill/>
        </p:spPr>
        <p:txBody>
          <a:bodyPr wrap="square">
            <a:spAutoFit/>
          </a:bodyPr>
          <a:lstStyle/>
          <a:p>
            <a:r>
              <a:rPr sz="1000" b="0">
                <a:solidFill>
                  <a:srgbClr val="0C111D"/>
                </a:solidFill>
                <a:latin typeface="Arial"/>
              </a:rPr>
              <a:t>2.5 Xây dựng Web chat</a:t>
            </a:r>
          </a:p>
        </p:txBody>
      </p:sp>
      <p:sp>
        <p:nvSpPr>
          <p:cNvPr id="40" name="Rounded Rectangle 39"/>
          <p:cNvSpPr/>
          <p:nvPr/>
        </p:nvSpPr>
        <p:spPr>
          <a:xfrm>
            <a:off x="5266508" y="4319016"/>
            <a:ext cx="551906" cy="195072"/>
          </a:xfrm>
          <a:prstGeom prst="roundRect">
            <a:avLst>
              <a:gd name="adj" fmla="val 30000"/>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4514088"/>
            <a:ext cx="3017520" cy="268224"/>
          </a:xfrm>
          <a:prstGeom prst="rect">
            <a:avLst/>
          </a:prstGeom>
          <a:noFill/>
        </p:spPr>
        <p:txBody>
          <a:bodyPr wrap="square">
            <a:spAutoFit/>
          </a:bodyPr>
          <a:lstStyle/>
          <a:p>
            <a:r>
              <a:rPr sz="1000" b="0">
                <a:solidFill>
                  <a:srgbClr val="0C111D"/>
                </a:solidFill>
                <a:latin typeface="Arial"/>
              </a:rPr>
              <a:t>2.6 Giao diện người dùng</a:t>
            </a:r>
          </a:p>
        </p:txBody>
      </p:sp>
      <p:sp>
        <p:nvSpPr>
          <p:cNvPr id="42" name="Rounded Rectangle 41"/>
          <p:cNvSpPr/>
          <p:nvPr/>
        </p:nvSpPr>
        <p:spPr>
          <a:xfrm>
            <a:off x="5266508" y="4587240"/>
            <a:ext cx="551906" cy="195072"/>
          </a:xfrm>
          <a:prstGeom prst="roundRect">
            <a:avLst>
              <a:gd name="adj" fmla="val 30000"/>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4782312"/>
            <a:ext cx="3017520" cy="268224"/>
          </a:xfrm>
          <a:prstGeom prst="rect">
            <a:avLst/>
          </a:prstGeom>
          <a:noFill/>
        </p:spPr>
        <p:txBody>
          <a:bodyPr wrap="square">
            <a:spAutoFit/>
          </a:bodyPr>
          <a:lstStyle/>
          <a:p>
            <a:r>
              <a:rPr sz="1000" b="0">
                <a:solidFill>
                  <a:srgbClr val="0C111D"/>
                </a:solidFill>
                <a:latin typeface="Arial"/>
              </a:rPr>
              <a:t>2.7 Bộ đánh giá chất lượng</a:t>
            </a:r>
          </a:p>
        </p:txBody>
      </p:sp>
      <p:sp>
        <p:nvSpPr>
          <p:cNvPr id="44" name="Rounded Rectangle 43"/>
          <p:cNvSpPr/>
          <p:nvPr/>
        </p:nvSpPr>
        <p:spPr>
          <a:xfrm>
            <a:off x="5266508" y="4855464"/>
            <a:ext cx="183969" cy="195072"/>
          </a:xfrm>
          <a:prstGeom prst="roundRect">
            <a:avLst>
              <a:gd name="adj" fmla="val 30000"/>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5050536"/>
            <a:ext cx="3017520" cy="268224"/>
          </a:xfrm>
          <a:prstGeom prst="rect">
            <a:avLst/>
          </a:prstGeom>
          <a:noFill/>
        </p:spPr>
        <p:txBody>
          <a:bodyPr wrap="square">
            <a:spAutoFit/>
          </a:bodyPr>
          <a:lstStyle/>
          <a:p>
            <a:r>
              <a:rPr sz="1000" b="0">
                <a:solidFill>
                  <a:srgbClr val="0C111D"/>
                </a:solidFill>
                <a:latin typeface="Arial"/>
              </a:rPr>
              <a:t>2.8 Test và nghiệm thu MVP</a:t>
            </a:r>
          </a:p>
        </p:txBody>
      </p:sp>
      <p:sp>
        <p:nvSpPr>
          <p:cNvPr id="46" name="Rounded Rectangle 45"/>
          <p:cNvSpPr/>
          <p:nvPr/>
        </p:nvSpPr>
        <p:spPr>
          <a:xfrm>
            <a:off x="5910398" y="5123688"/>
            <a:ext cx="551906" cy="195072"/>
          </a:xfrm>
          <a:prstGeom prst="roundRect">
            <a:avLst>
              <a:gd name="adj" fmla="val 30000"/>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iamond 46"/>
          <p:cNvSpPr/>
          <p:nvPr/>
        </p:nvSpPr>
        <p:spPr>
          <a:xfrm>
            <a:off x="3758456" y="5401056"/>
            <a:ext cx="164592" cy="164592"/>
          </a:xfrm>
          <a:prstGeom prst="diamond">
            <a:avLst/>
          </a:prstGeom>
          <a:solidFill>
            <a:srgbClr val="A94E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74992" y="5565648"/>
            <a:ext cx="822960" cy="256032"/>
          </a:xfrm>
          <a:prstGeom prst="rect">
            <a:avLst/>
          </a:prstGeom>
          <a:noFill/>
        </p:spPr>
        <p:txBody>
          <a:bodyPr wrap="square">
            <a:spAutoFit/>
          </a:bodyPr>
          <a:lstStyle/>
          <a:p>
            <a:r>
              <a:rPr sz="800" b="0">
                <a:solidFill>
                  <a:srgbClr val="6B7280"/>
                </a:solidFill>
                <a:latin typeface="Arial"/>
              </a:rPr>
              <a:t>M1 · 30%</a:t>
            </a:r>
          </a:p>
        </p:txBody>
      </p:sp>
      <p:sp>
        <p:nvSpPr>
          <p:cNvPr id="49" name="Diamond 48"/>
          <p:cNvSpPr/>
          <p:nvPr/>
        </p:nvSpPr>
        <p:spPr>
          <a:xfrm>
            <a:off x="4494330" y="5401056"/>
            <a:ext cx="164592" cy="164592"/>
          </a:xfrm>
          <a:prstGeom prst="diamond">
            <a:avLst/>
          </a:prstGeom>
          <a:solidFill>
            <a:srgbClr val="A94E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10866" y="5565648"/>
            <a:ext cx="822960" cy="256032"/>
          </a:xfrm>
          <a:prstGeom prst="rect">
            <a:avLst/>
          </a:prstGeom>
          <a:noFill/>
        </p:spPr>
        <p:txBody>
          <a:bodyPr wrap="square">
            <a:spAutoFit/>
          </a:bodyPr>
          <a:lstStyle/>
          <a:p>
            <a:r>
              <a:rPr sz="800" b="0">
                <a:solidFill>
                  <a:srgbClr val="6B7280"/>
                </a:solidFill>
                <a:latin typeface="Arial"/>
              </a:rPr>
              <a:t>M2</a:t>
            </a:r>
          </a:p>
        </p:txBody>
      </p:sp>
      <p:sp>
        <p:nvSpPr>
          <p:cNvPr id="51" name="Diamond 50"/>
          <p:cNvSpPr/>
          <p:nvPr/>
        </p:nvSpPr>
        <p:spPr>
          <a:xfrm>
            <a:off x="6609968" y="5401056"/>
            <a:ext cx="164592" cy="164592"/>
          </a:xfrm>
          <a:prstGeom prst="diamond">
            <a:avLst/>
          </a:prstGeom>
          <a:solidFill>
            <a:srgbClr val="A94E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26504" y="5565648"/>
            <a:ext cx="822960" cy="256032"/>
          </a:xfrm>
          <a:prstGeom prst="rect">
            <a:avLst/>
          </a:prstGeom>
          <a:noFill/>
        </p:spPr>
        <p:txBody>
          <a:bodyPr wrap="square">
            <a:spAutoFit/>
          </a:bodyPr>
          <a:lstStyle/>
          <a:p>
            <a:r>
              <a:rPr sz="800" b="0">
                <a:solidFill>
                  <a:srgbClr val="6B7280"/>
                </a:solidFill>
                <a:latin typeface="Arial"/>
              </a:rPr>
              <a:t>M3 · 40%</a:t>
            </a:r>
          </a:p>
        </p:txBody>
      </p:sp>
      <p:sp>
        <p:nvSpPr>
          <p:cNvPr id="53" name="Diamond 52"/>
          <p:cNvSpPr/>
          <p:nvPr/>
        </p:nvSpPr>
        <p:spPr>
          <a:xfrm>
            <a:off x="10933230" y="5401056"/>
            <a:ext cx="164592" cy="164592"/>
          </a:xfrm>
          <a:prstGeom prst="diamond">
            <a:avLst/>
          </a:prstGeom>
          <a:solidFill>
            <a:srgbClr val="A94E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649766" y="5565648"/>
            <a:ext cx="822960" cy="256032"/>
          </a:xfrm>
          <a:prstGeom prst="rect">
            <a:avLst/>
          </a:prstGeom>
          <a:noFill/>
        </p:spPr>
        <p:txBody>
          <a:bodyPr wrap="square">
            <a:spAutoFit/>
          </a:bodyPr>
          <a:lstStyle/>
          <a:p>
            <a:r>
              <a:rPr sz="800" b="0">
                <a:solidFill>
                  <a:srgbClr val="6B7280"/>
                </a:solidFill>
                <a:latin typeface="Arial"/>
              </a:rPr>
              <a:t>M4 · 30%</a:t>
            </a:r>
          </a:p>
        </p:txBody>
      </p:sp>
      <p:sp>
        <p:nvSpPr>
          <p:cNvPr id="55" name="Rectangle 54"/>
          <p:cNvSpPr/>
          <p:nvPr/>
        </p:nvSpPr>
        <p:spPr>
          <a:xfrm>
            <a:off x="685800" y="6099048"/>
            <a:ext cx="274320" cy="146304"/>
          </a:xfrm>
          <a:prstGeom prst="rect">
            <a:avLst/>
          </a:prstGeom>
          <a:solidFill>
            <a:srgbClr val="F8B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272" y="6035040"/>
            <a:ext cx="1280160" cy="274320"/>
          </a:xfrm>
          <a:prstGeom prst="rect">
            <a:avLst/>
          </a:prstGeom>
          <a:noFill/>
        </p:spPr>
        <p:txBody>
          <a:bodyPr wrap="square">
            <a:spAutoFit/>
          </a:bodyPr>
          <a:lstStyle/>
          <a:p>
            <a:r>
              <a:rPr sz="1000" b="0">
                <a:solidFill>
                  <a:srgbClr val="6B7280"/>
                </a:solidFill>
                <a:latin typeface="Arial"/>
              </a:rPr>
              <a:t>PoC</a:t>
            </a:r>
          </a:p>
        </p:txBody>
      </p:sp>
      <p:sp>
        <p:nvSpPr>
          <p:cNvPr id="57" name="Rectangle 56"/>
          <p:cNvSpPr/>
          <p:nvPr/>
        </p:nvSpPr>
        <p:spPr>
          <a:xfrm>
            <a:off x="2331720" y="6099048"/>
            <a:ext cx="274320" cy="146304"/>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79192" y="6035040"/>
            <a:ext cx="1280160" cy="274320"/>
          </a:xfrm>
          <a:prstGeom prst="rect">
            <a:avLst/>
          </a:prstGeom>
          <a:noFill/>
        </p:spPr>
        <p:txBody>
          <a:bodyPr wrap="square">
            <a:spAutoFit/>
          </a:bodyPr>
          <a:lstStyle/>
          <a:p>
            <a:r>
              <a:rPr sz="1000" b="0">
                <a:solidFill>
                  <a:srgbClr val="6B7280"/>
                </a:solidFill>
                <a:latin typeface="Arial"/>
              </a:rPr>
              <a:t>MVP</a:t>
            </a:r>
          </a:p>
        </p:txBody>
      </p:sp>
      <p:sp>
        <p:nvSpPr>
          <p:cNvPr id="59" name="Rectangle 58"/>
          <p:cNvSpPr/>
          <p:nvPr/>
        </p:nvSpPr>
        <p:spPr>
          <a:xfrm>
            <a:off x="3977639" y="6099048"/>
            <a:ext cx="274320" cy="146304"/>
          </a:xfrm>
          <a:prstGeom prst="rect">
            <a:avLst/>
          </a:prstGeom>
          <a:solidFill>
            <a:srgbClr val="A94E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325111" y="6035040"/>
            <a:ext cx="1280160" cy="274320"/>
          </a:xfrm>
          <a:prstGeom prst="rect">
            <a:avLst/>
          </a:prstGeom>
          <a:noFill/>
        </p:spPr>
        <p:txBody>
          <a:bodyPr wrap="square">
            <a:spAutoFit/>
          </a:bodyPr>
          <a:lstStyle/>
          <a:p>
            <a:r>
              <a:rPr sz="1000" b="0">
                <a:solidFill>
                  <a:srgbClr val="6B7280"/>
                </a:solidFill>
                <a:latin typeface="Arial"/>
              </a:rPr>
              <a:t>Production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Đội ngũ dự án</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Vai trò, công việc chính và ngày công theo WBS</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11</a:t>
            </a:r>
          </a:p>
        </p:txBody>
      </p:sp>
      <p:graphicFrame>
        <p:nvGraphicFramePr>
          <p:cNvPr id="7" name="Table 6"/>
          <p:cNvGraphicFramePr>
            <a:graphicFrameLocks noGrp="1"/>
          </p:cNvGraphicFramePr>
          <p:nvPr/>
        </p:nvGraphicFramePr>
        <p:xfrm>
          <a:off x="685800" y="1325880"/>
          <a:ext cx="10789920" cy="3291840"/>
        </p:xfrm>
        <a:graphic>
          <a:graphicData uri="http://schemas.openxmlformats.org/drawingml/2006/table">
            <a:tbl>
              <a:tblPr firstRow="1" bandRow="1">
                <a:tableStyleId>{5C22544A-7EE6-4342-B048-85BDC9FD1C3A}</a:tableStyleId>
              </a:tblPr>
              <a:tblGrid>
                <a:gridCol w="2743200"/>
                <a:gridCol w="6400800"/>
                <a:gridCol w="1645920"/>
              </a:tblGrid>
              <a:tr h="365760">
                <a:tc>
                  <a:txBody>
                    <a:bodyPr/>
                    <a:lstStyle/>
                    <a:p>
                      <a:r>
                        <a:rPr sz="1100" b="1">
                          <a:solidFill>
                            <a:srgbClr val="FFFFFF"/>
                          </a:solidFill>
                          <a:latin typeface="Arial"/>
                        </a:rPr>
                        <a:t>Vai trò</a:t>
                      </a:r>
                    </a:p>
                  </a:txBody>
                  <a:tcPr marT="36576" marB="36576">
                    <a:solidFill>
                      <a:srgbClr val="F26F21"/>
                    </a:solidFill>
                  </a:tcPr>
                </a:tc>
                <a:tc>
                  <a:txBody>
                    <a:bodyPr/>
                    <a:lstStyle/>
                    <a:p>
                      <a:r>
                        <a:rPr sz="1100" b="1">
                          <a:solidFill>
                            <a:srgbClr val="FFFFFF"/>
                          </a:solidFill>
                          <a:latin typeface="Arial"/>
                        </a:rPr>
                        <a:t>Công việc chính</a:t>
                      </a:r>
                    </a:p>
                  </a:txBody>
                  <a:tcPr marT="36576" marB="36576">
                    <a:solidFill>
                      <a:srgbClr val="F26F21"/>
                    </a:solidFill>
                  </a:tcPr>
                </a:tc>
                <a:tc>
                  <a:txBody>
                    <a:bodyPr/>
                    <a:lstStyle/>
                    <a:p>
                      <a:r>
                        <a:rPr sz="1100" b="1">
                          <a:solidFill>
                            <a:srgbClr val="FFFFFF"/>
                          </a:solidFill>
                          <a:latin typeface="Arial"/>
                        </a:rPr>
                        <a:t>Ngày công</a:t>
                      </a:r>
                    </a:p>
                  </a:txBody>
                  <a:tcPr marT="36576" marB="36576">
                    <a:solidFill>
                      <a:srgbClr val="F26F21"/>
                    </a:solidFill>
                  </a:tcPr>
                </a:tc>
              </a:tr>
              <a:tr h="365760">
                <a:tc>
                  <a:txBody>
                    <a:bodyPr/>
                    <a:lstStyle/>
                    <a:p>
                      <a:r>
                        <a:rPr sz="1100" b="0">
                          <a:solidFill>
                            <a:srgbClr val="0C111D"/>
                          </a:solidFill>
                          <a:latin typeface="Arial"/>
                        </a:rPr>
                        <a:t>DevOps / Hạ tầng</a:t>
                      </a:r>
                    </a:p>
                  </a:txBody>
                  <a:tcPr marT="36576" marB="36576">
                    <a:solidFill>
                      <a:srgbClr val="FFFFFF"/>
                    </a:solidFill>
                  </a:tcPr>
                </a:tc>
                <a:tc>
                  <a:txBody>
                    <a:bodyPr/>
                    <a:lstStyle/>
                    <a:p>
                      <a:r>
                        <a:rPr sz="1100" b="0">
                          <a:solidFill>
                            <a:srgbClr val="0C111D"/>
                          </a:solidFill>
                          <a:latin typeface="Arial"/>
                        </a:rPr>
                        <a:t>Hardening &amp; bảo mật – đợt 1; Hardening &amp; bảo mật – đợt 2</a:t>
                      </a:r>
                    </a:p>
                  </a:txBody>
                  <a:tcPr marT="36576" marB="36576">
                    <a:solidFill>
                      <a:srgbClr val="FFFFFF"/>
                    </a:solidFill>
                  </a:tcPr>
                </a:tc>
                <a:tc>
                  <a:txBody>
                    <a:bodyPr/>
                    <a:lstStyle/>
                    <a:p>
                      <a:r>
                        <a:rPr sz="1100" b="0">
                          <a:solidFill>
                            <a:srgbClr val="0C111D"/>
                          </a:solidFill>
                          <a:latin typeface="Arial"/>
                        </a:rPr>
                        <a:t>28</a:t>
                      </a:r>
                    </a:p>
                  </a:txBody>
                  <a:tcPr marT="36576" marB="36576">
                    <a:solidFill>
                      <a:srgbClr val="FFFFFF"/>
                    </a:solidFill>
                  </a:tcPr>
                </a:tc>
              </a:tr>
              <a:tr h="365760">
                <a:tc>
                  <a:txBody>
                    <a:bodyPr/>
                    <a:lstStyle/>
                    <a:p>
                      <a:r>
                        <a:rPr sz="1100" b="0">
                          <a:solidFill>
                            <a:srgbClr val="0C111D"/>
                          </a:solidFill>
                          <a:latin typeface="Arial"/>
                        </a:rPr>
                        <a:t>BA</a:t>
                      </a:r>
                    </a:p>
                  </a:txBody>
                  <a:tcPr marT="36576" marB="36576">
                    <a:solidFill>
                      <a:srgbClr val="F5F5F4"/>
                    </a:solidFill>
                  </a:tcPr>
                </a:tc>
                <a:tc>
                  <a:txBody>
                    <a:bodyPr/>
                    <a:lstStyle/>
                    <a:p>
                      <a:r>
                        <a:rPr sz="1100" b="0">
                          <a:solidFill>
                            <a:srgbClr val="0C111D"/>
                          </a:solidFill>
                          <a:latin typeface="Arial"/>
                        </a:rPr>
                        <a:t>Đào tạo &amp; bàn giao – đợt 1; Đào tạo &amp; bàn giao – đợt 2</a:t>
                      </a:r>
                    </a:p>
                  </a:txBody>
                  <a:tcPr marT="36576" marB="36576">
                    <a:solidFill>
                      <a:srgbClr val="F5F5F4"/>
                    </a:solidFill>
                  </a:tcPr>
                </a:tc>
                <a:tc>
                  <a:txBody>
                    <a:bodyPr/>
                    <a:lstStyle/>
                    <a:p>
                      <a:r>
                        <a:rPr sz="1100" b="0">
                          <a:solidFill>
                            <a:srgbClr val="0C111D"/>
                          </a:solidFill>
                          <a:latin typeface="Arial"/>
                        </a:rPr>
                        <a:t>23</a:t>
                      </a:r>
                    </a:p>
                  </a:txBody>
                  <a:tcPr marT="36576" marB="36576">
                    <a:solidFill>
                      <a:srgbClr val="F5F5F4"/>
                    </a:solidFill>
                  </a:tcPr>
                </a:tc>
              </a:tr>
              <a:tr h="365760">
                <a:tc>
                  <a:txBody>
                    <a:bodyPr/>
                    <a:lstStyle/>
                    <a:p>
                      <a:r>
                        <a:rPr sz="1100" b="0">
                          <a:solidFill>
                            <a:srgbClr val="0C111D"/>
                          </a:solidFill>
                          <a:latin typeface="Arial"/>
                        </a:rPr>
                        <a:t>PM</a:t>
                      </a:r>
                    </a:p>
                  </a:txBody>
                  <a:tcPr marT="36576" marB="36576">
                    <a:solidFill>
                      <a:srgbClr val="FFFFFF"/>
                    </a:solidFill>
                  </a:tcPr>
                </a:tc>
                <a:tc>
                  <a:txBody>
                    <a:bodyPr/>
                    <a:lstStyle/>
                    <a:p>
                      <a:r>
                        <a:rPr sz="1100" b="0">
                          <a:solidFill>
                            <a:srgbClr val="0C111D"/>
                          </a:solidFill>
                          <a:latin typeface="Arial"/>
                        </a:rPr>
                        <a:t>Quản lý triển khai – đợt 1; Quản lý triển khai – đợt 2</a:t>
                      </a:r>
                    </a:p>
                  </a:txBody>
                  <a:tcPr marT="36576" marB="36576">
                    <a:solidFill>
                      <a:srgbClr val="FFFFFF"/>
                    </a:solidFill>
                  </a:tcPr>
                </a:tc>
                <a:tc>
                  <a:txBody>
                    <a:bodyPr/>
                    <a:lstStyle/>
                    <a:p>
                      <a:r>
                        <a:rPr sz="1100" b="0">
                          <a:solidFill>
                            <a:srgbClr val="0C111D"/>
                          </a:solidFill>
                          <a:latin typeface="Arial"/>
                        </a:rPr>
                        <a:t>21</a:t>
                      </a:r>
                    </a:p>
                  </a:txBody>
                  <a:tcPr marT="36576" marB="36576">
                    <a:solidFill>
                      <a:srgbClr val="FFFFFF"/>
                    </a:solidFill>
                  </a:tcPr>
                </a:tc>
              </a:tr>
              <a:tr h="365760">
                <a:tc>
                  <a:txBody>
                    <a:bodyPr/>
                    <a:lstStyle/>
                    <a:p>
                      <a:r>
                        <a:rPr sz="1100" b="0">
                          <a:solidFill>
                            <a:srgbClr val="0C111D"/>
                          </a:solidFill>
                          <a:latin typeface="Arial"/>
                        </a:rPr>
                        <a:t>QA / Test</a:t>
                      </a:r>
                    </a:p>
                  </a:txBody>
                  <a:tcPr marT="36576" marB="36576">
                    <a:solidFill>
                      <a:srgbClr val="F5F5F4"/>
                    </a:solidFill>
                  </a:tcPr>
                </a:tc>
                <a:tc>
                  <a:txBody>
                    <a:bodyPr/>
                    <a:lstStyle/>
                    <a:p>
                      <a:r>
                        <a:rPr sz="1100" b="0">
                          <a:solidFill>
                            <a:srgbClr val="0C111D"/>
                          </a:solidFill>
                          <a:latin typeface="Arial"/>
                        </a:rPr>
                        <a:t>UAT và nghiệm thu – đợt 1; UAT và nghiệm thu – đợt 2</a:t>
                      </a:r>
                    </a:p>
                  </a:txBody>
                  <a:tcPr marT="36576" marB="36576">
                    <a:solidFill>
                      <a:srgbClr val="F5F5F4"/>
                    </a:solidFill>
                  </a:tcPr>
                </a:tc>
                <a:tc>
                  <a:txBody>
                    <a:bodyPr/>
                    <a:lstStyle/>
                    <a:p>
                      <a:r>
                        <a:rPr sz="1100" b="0">
                          <a:solidFill>
                            <a:srgbClr val="0C111D"/>
                          </a:solidFill>
                          <a:latin typeface="Arial"/>
                        </a:rPr>
                        <a:t>18</a:t>
                      </a:r>
                    </a:p>
                  </a:txBody>
                  <a:tcPr marT="36576" marB="36576">
                    <a:solidFill>
                      <a:srgbClr val="F5F5F4"/>
                    </a:solidFill>
                  </a:tcPr>
                </a:tc>
              </a:tr>
              <a:tr h="365760">
                <a:tc>
                  <a:txBody>
                    <a:bodyPr/>
                    <a:lstStyle/>
                    <a:p>
                      <a:r>
                        <a:rPr sz="1100" b="0">
                          <a:solidFill>
                            <a:srgbClr val="0C111D"/>
                          </a:solidFill>
                          <a:latin typeface="Arial"/>
                        </a:rPr>
                        <a:t>Backend</a:t>
                      </a:r>
                    </a:p>
                  </a:txBody>
                  <a:tcPr marT="36576" marB="36576">
                    <a:solidFill>
                      <a:srgbClr val="FFFFFF"/>
                    </a:solidFill>
                  </a:tcPr>
                </a:tc>
                <a:tc>
                  <a:txBody>
                    <a:bodyPr/>
                    <a:lstStyle/>
                    <a:p>
                      <a:r>
                        <a:rPr sz="1100" b="0">
                          <a:solidFill>
                            <a:srgbClr val="0C111D"/>
                          </a:solidFill>
                          <a:latin typeface="Arial"/>
                        </a:rPr>
                        <a:t>Mở rộng Vector index – đợt 1; Mở rộng Vector index – đợt 2</a:t>
                      </a:r>
                    </a:p>
                  </a:txBody>
                  <a:tcPr marT="36576" marB="36576">
                    <a:solidFill>
                      <a:srgbClr val="FFFFFF"/>
                    </a:solidFill>
                  </a:tcPr>
                </a:tc>
                <a:tc>
                  <a:txBody>
                    <a:bodyPr/>
                    <a:lstStyle/>
                    <a:p>
                      <a:r>
                        <a:rPr sz="1100" b="0">
                          <a:solidFill>
                            <a:srgbClr val="0C111D"/>
                          </a:solidFill>
                          <a:latin typeface="Arial"/>
                        </a:rPr>
                        <a:t>18</a:t>
                      </a:r>
                    </a:p>
                  </a:txBody>
                  <a:tcPr marT="36576" marB="36576">
                    <a:solidFill>
                      <a:srgbClr val="FFFFFF"/>
                    </a:solidFill>
                  </a:tcPr>
                </a:tc>
              </a:tr>
              <a:tr h="365760">
                <a:tc>
                  <a:txBody>
                    <a:bodyPr/>
                    <a:lstStyle/>
                    <a:p>
                      <a:r>
                        <a:rPr sz="1100" b="0">
                          <a:solidFill>
                            <a:srgbClr val="0C111D"/>
                          </a:solidFill>
                          <a:latin typeface="Arial"/>
                        </a:rPr>
                        <a:t>AI engineer</a:t>
                      </a:r>
                    </a:p>
                  </a:txBody>
                  <a:tcPr marT="36576" marB="36576">
                    <a:solidFill>
                      <a:srgbClr val="F5F5F4"/>
                    </a:solidFill>
                  </a:tcPr>
                </a:tc>
                <a:tc>
                  <a:txBody>
                    <a:bodyPr/>
                    <a:lstStyle/>
                    <a:p>
                      <a:r>
                        <a:rPr sz="1100" b="0">
                          <a:solidFill>
                            <a:srgbClr val="0C111D"/>
                          </a:solidFill>
                          <a:latin typeface="Arial"/>
                        </a:rPr>
                        <a:t>Xây dựng Chat API; Bộ đánh giá chất lượng</a:t>
                      </a:r>
                    </a:p>
                  </a:txBody>
                  <a:tcPr marT="36576" marB="36576">
                    <a:solidFill>
                      <a:srgbClr val="F5F5F4"/>
                    </a:solidFill>
                  </a:tcPr>
                </a:tc>
                <a:tc>
                  <a:txBody>
                    <a:bodyPr/>
                    <a:lstStyle/>
                    <a:p>
                      <a:r>
                        <a:rPr sz="1100" b="0">
                          <a:solidFill>
                            <a:srgbClr val="0C111D"/>
                          </a:solidFill>
                          <a:latin typeface="Arial"/>
                        </a:rPr>
                        <a:t>13</a:t>
                      </a:r>
                    </a:p>
                  </a:txBody>
                  <a:tcPr marT="36576" marB="36576">
                    <a:solidFill>
                      <a:srgbClr val="F5F5F4"/>
                    </a:solidFill>
                  </a:tcPr>
                </a:tc>
              </a:tr>
              <a:tr h="365760">
                <a:tc>
                  <a:txBody>
                    <a:bodyPr/>
                    <a:lstStyle/>
                    <a:p>
                      <a:r>
                        <a:rPr sz="1100" b="0">
                          <a:solidFill>
                            <a:srgbClr val="0C111D"/>
                          </a:solidFill>
                          <a:latin typeface="Arial"/>
                        </a:rPr>
                        <a:t>Data engineer</a:t>
                      </a:r>
                    </a:p>
                  </a:txBody>
                  <a:tcPr marT="36576" marB="36576">
                    <a:solidFill>
                      <a:srgbClr val="FFFFFF"/>
                    </a:solidFill>
                  </a:tcPr>
                </a:tc>
                <a:tc>
                  <a:txBody>
                    <a:bodyPr/>
                    <a:lstStyle/>
                    <a:p>
                      <a:r>
                        <a:rPr sz="1100" b="0">
                          <a:solidFill>
                            <a:srgbClr val="0C111D"/>
                          </a:solidFill>
                          <a:latin typeface="Arial"/>
                        </a:rPr>
                        <a:t>Chuẩn bị &amp; làm sạch dữ liệu; Chuẩn bị dữ liệu mẫu</a:t>
                      </a:r>
                    </a:p>
                  </a:txBody>
                  <a:tcPr marT="36576" marB="36576">
                    <a:solidFill>
                      <a:srgbClr val="FFFFFF"/>
                    </a:solidFill>
                  </a:tcPr>
                </a:tc>
                <a:tc>
                  <a:txBody>
                    <a:bodyPr/>
                    <a:lstStyle/>
                    <a:p>
                      <a:r>
                        <a:rPr sz="1100" b="0">
                          <a:solidFill>
                            <a:srgbClr val="0C111D"/>
                          </a:solidFill>
                          <a:latin typeface="Arial"/>
                        </a:rPr>
                        <a:t>7</a:t>
                      </a:r>
                    </a:p>
                  </a:txBody>
                  <a:tcPr marT="36576" marB="36576">
                    <a:solidFill>
                      <a:srgbClr val="FFFFFF"/>
                    </a:solidFill>
                  </a:tcPr>
                </a:tc>
              </a:tr>
              <a:tr h="365760">
                <a:tc>
                  <a:txBody>
                    <a:bodyPr/>
                    <a:lstStyle/>
                    <a:p>
                      <a:r>
                        <a:rPr sz="1100" b="0">
                          <a:solidFill>
                            <a:srgbClr val="0C111D"/>
                          </a:solidFill>
                          <a:latin typeface="Arial"/>
                        </a:rPr>
                        <a:t>Frontend</a:t>
                      </a:r>
                    </a:p>
                  </a:txBody>
                  <a:tcPr marT="36576" marB="36576">
                    <a:solidFill>
                      <a:srgbClr val="F5F5F4"/>
                    </a:solidFill>
                  </a:tcPr>
                </a:tc>
                <a:tc>
                  <a:txBody>
                    <a:bodyPr/>
                    <a:lstStyle/>
                    <a:p>
                      <a:r>
                        <a:rPr sz="1100" b="0">
                          <a:solidFill>
                            <a:srgbClr val="0C111D"/>
                          </a:solidFill>
                          <a:latin typeface="Arial"/>
                        </a:rPr>
                        <a:t>Giao diện người dùng</a:t>
                      </a:r>
                    </a:p>
                  </a:txBody>
                  <a:tcPr marT="36576" marB="36576">
                    <a:solidFill>
                      <a:srgbClr val="F5F5F4"/>
                    </a:solidFill>
                  </a:tcPr>
                </a:tc>
                <a:tc>
                  <a:txBody>
                    <a:bodyPr/>
                    <a:lstStyle/>
                    <a:p>
                      <a:r>
                        <a:rPr sz="1100" b="0">
                          <a:solidFill>
                            <a:srgbClr val="0C111D"/>
                          </a:solidFill>
                          <a:latin typeface="Arial"/>
                        </a:rPr>
                        <a:t>4</a:t>
                      </a:r>
                    </a:p>
                  </a:txBody>
                  <a:tcPr marT="36576" marB="36576">
                    <a:solidFill>
                      <a:srgbClr val="F5F5F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Đáp ứng yêu cầu của khách</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8 requirement được đánh giá từng dòng</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12</a:t>
            </a:r>
          </a:p>
        </p:txBody>
      </p:sp>
      <p:sp>
        <p:nvSpPr>
          <p:cNvPr id="7" name="Rounded Rectangle 6"/>
          <p:cNvSpPr/>
          <p:nvPr/>
        </p:nvSpPr>
        <p:spPr>
          <a:xfrm>
            <a:off x="685800" y="1325880"/>
            <a:ext cx="2560320" cy="960120"/>
          </a:xfrm>
          <a:prstGeom prst="roundRect">
            <a:avLst>
              <a:gd name="adj" fmla="val 12000"/>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371600"/>
            <a:ext cx="914400" cy="822960"/>
          </a:xfrm>
          <a:prstGeom prst="rect">
            <a:avLst/>
          </a:prstGeom>
          <a:noFill/>
        </p:spPr>
        <p:txBody>
          <a:bodyPr wrap="square">
            <a:spAutoFit/>
          </a:bodyPr>
          <a:lstStyle/>
          <a:p>
            <a:r>
              <a:rPr sz="3000" b="1">
                <a:solidFill>
                  <a:srgbClr val="FFFFFF"/>
                </a:solidFill>
                <a:latin typeface="Arial"/>
              </a:rPr>
              <a:t>4</a:t>
            </a:r>
          </a:p>
        </p:txBody>
      </p:sp>
      <p:sp>
        <p:nvSpPr>
          <p:cNvPr id="9" name="TextBox 8"/>
          <p:cNvSpPr txBox="1"/>
          <p:nvPr/>
        </p:nvSpPr>
        <p:spPr>
          <a:xfrm>
            <a:off x="1737360" y="1600200"/>
            <a:ext cx="1463040" cy="548640"/>
          </a:xfrm>
          <a:prstGeom prst="rect">
            <a:avLst/>
          </a:prstGeom>
          <a:noFill/>
        </p:spPr>
        <p:txBody>
          <a:bodyPr wrap="square">
            <a:spAutoFit/>
          </a:bodyPr>
          <a:lstStyle/>
          <a:p>
            <a:r>
              <a:rPr sz="1300" b="1">
                <a:solidFill>
                  <a:srgbClr val="FFFFFF"/>
                </a:solidFill>
                <a:latin typeface="Arial"/>
              </a:rPr>
              <a:t>Đáp ứng</a:t>
            </a:r>
          </a:p>
        </p:txBody>
      </p:sp>
      <p:sp>
        <p:nvSpPr>
          <p:cNvPr id="10" name="Rounded Rectangle 9"/>
          <p:cNvSpPr/>
          <p:nvPr/>
        </p:nvSpPr>
        <p:spPr>
          <a:xfrm>
            <a:off x="3401568" y="1325880"/>
            <a:ext cx="2560320" cy="960120"/>
          </a:xfrm>
          <a:prstGeom prst="roundRect">
            <a:avLst>
              <a:gd name="adj" fmla="val 12000"/>
            </a:avLst>
          </a:prstGeom>
          <a:solidFill>
            <a:srgbClr val="E3A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371600"/>
            <a:ext cx="914400" cy="822960"/>
          </a:xfrm>
          <a:prstGeom prst="rect">
            <a:avLst/>
          </a:prstGeom>
          <a:noFill/>
        </p:spPr>
        <p:txBody>
          <a:bodyPr wrap="square">
            <a:spAutoFit/>
          </a:bodyPr>
          <a:lstStyle/>
          <a:p>
            <a:r>
              <a:rPr sz="3000" b="1">
                <a:solidFill>
                  <a:srgbClr val="FFFFFF"/>
                </a:solidFill>
                <a:latin typeface="Arial"/>
              </a:rPr>
              <a:t>2</a:t>
            </a:r>
          </a:p>
        </p:txBody>
      </p:sp>
      <p:sp>
        <p:nvSpPr>
          <p:cNvPr id="12" name="TextBox 11"/>
          <p:cNvSpPr txBox="1"/>
          <p:nvPr/>
        </p:nvSpPr>
        <p:spPr>
          <a:xfrm>
            <a:off x="4453128" y="1600200"/>
            <a:ext cx="1463040" cy="548640"/>
          </a:xfrm>
          <a:prstGeom prst="rect">
            <a:avLst/>
          </a:prstGeom>
          <a:noFill/>
        </p:spPr>
        <p:txBody>
          <a:bodyPr wrap="square">
            <a:spAutoFit/>
          </a:bodyPr>
          <a:lstStyle/>
          <a:p>
            <a:r>
              <a:rPr sz="1300" b="1">
                <a:solidFill>
                  <a:srgbClr val="FFFFFF"/>
                </a:solidFill>
                <a:latin typeface="Arial"/>
              </a:rPr>
              <a:t>Đáp ứng một phần</a:t>
            </a:r>
          </a:p>
        </p:txBody>
      </p:sp>
      <p:sp>
        <p:nvSpPr>
          <p:cNvPr id="13" name="Rounded Rectangle 12"/>
          <p:cNvSpPr/>
          <p:nvPr/>
        </p:nvSpPr>
        <p:spPr>
          <a:xfrm>
            <a:off x="6117336" y="1325880"/>
            <a:ext cx="2560320" cy="960120"/>
          </a:xfrm>
          <a:prstGeom prst="roundRect">
            <a:avLst>
              <a:gd name="adj" fmla="val 12000"/>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216" y="1371600"/>
            <a:ext cx="914400" cy="822960"/>
          </a:xfrm>
          <a:prstGeom prst="rect">
            <a:avLst/>
          </a:prstGeom>
          <a:noFill/>
        </p:spPr>
        <p:txBody>
          <a:bodyPr wrap="square">
            <a:spAutoFit/>
          </a:bodyPr>
          <a:lstStyle/>
          <a:p>
            <a:r>
              <a:rPr sz="3000" b="1">
                <a:solidFill>
                  <a:srgbClr val="FFFFFF"/>
                </a:solidFill>
                <a:latin typeface="Arial"/>
              </a:rPr>
              <a:t>1</a:t>
            </a:r>
          </a:p>
        </p:txBody>
      </p:sp>
      <p:sp>
        <p:nvSpPr>
          <p:cNvPr id="15" name="TextBox 14"/>
          <p:cNvSpPr txBox="1"/>
          <p:nvPr/>
        </p:nvSpPr>
        <p:spPr>
          <a:xfrm>
            <a:off x="7168896" y="1600200"/>
            <a:ext cx="1463040" cy="548640"/>
          </a:xfrm>
          <a:prstGeom prst="rect">
            <a:avLst/>
          </a:prstGeom>
          <a:noFill/>
        </p:spPr>
        <p:txBody>
          <a:bodyPr wrap="square">
            <a:spAutoFit/>
          </a:bodyPr>
          <a:lstStyle/>
          <a:p>
            <a:r>
              <a:rPr sz="1300" b="1">
                <a:solidFill>
                  <a:srgbClr val="FFFFFF"/>
                </a:solidFill>
                <a:latin typeface="Arial"/>
              </a:rPr>
              <a:t>Không đáp ứng</a:t>
            </a:r>
          </a:p>
        </p:txBody>
      </p:sp>
      <p:sp>
        <p:nvSpPr>
          <p:cNvPr id="16" name="Rounded Rectangle 15"/>
          <p:cNvSpPr/>
          <p:nvPr/>
        </p:nvSpPr>
        <p:spPr>
          <a:xfrm>
            <a:off x="8833104" y="1325880"/>
            <a:ext cx="2560320" cy="960120"/>
          </a:xfrm>
          <a:prstGeom prst="roundRect">
            <a:avLst>
              <a:gd name="adj" fmla="val 12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15984" y="1371600"/>
            <a:ext cx="914400" cy="822960"/>
          </a:xfrm>
          <a:prstGeom prst="rect">
            <a:avLst/>
          </a:prstGeom>
          <a:noFill/>
        </p:spPr>
        <p:txBody>
          <a:bodyPr wrap="square">
            <a:spAutoFit/>
          </a:bodyPr>
          <a:lstStyle/>
          <a:p>
            <a:r>
              <a:rPr sz="3000" b="1">
                <a:solidFill>
                  <a:srgbClr val="FFFFFF"/>
                </a:solidFill>
                <a:latin typeface="Arial"/>
              </a:rPr>
              <a:t>1</a:t>
            </a:r>
          </a:p>
        </p:txBody>
      </p:sp>
      <p:sp>
        <p:nvSpPr>
          <p:cNvPr id="18" name="TextBox 17"/>
          <p:cNvSpPr txBox="1"/>
          <p:nvPr/>
        </p:nvSpPr>
        <p:spPr>
          <a:xfrm>
            <a:off x="9884664" y="1600200"/>
            <a:ext cx="1463040" cy="548640"/>
          </a:xfrm>
          <a:prstGeom prst="rect">
            <a:avLst/>
          </a:prstGeom>
          <a:noFill/>
        </p:spPr>
        <p:txBody>
          <a:bodyPr wrap="square">
            <a:spAutoFit/>
          </a:bodyPr>
          <a:lstStyle/>
          <a:p>
            <a:r>
              <a:rPr sz="1300" b="1">
                <a:solidFill>
                  <a:srgbClr val="FFFFFF"/>
                </a:solidFill>
                <a:latin typeface="Arial"/>
              </a:rPr>
              <a:t>Cần làm rõ</a:t>
            </a:r>
          </a:p>
        </p:txBody>
      </p:sp>
      <p:graphicFrame>
        <p:nvGraphicFramePr>
          <p:cNvPr id="19" name="Table 18"/>
          <p:cNvGraphicFramePr>
            <a:graphicFrameLocks noGrp="1"/>
          </p:cNvGraphicFramePr>
          <p:nvPr/>
        </p:nvGraphicFramePr>
        <p:xfrm>
          <a:off x="685800" y="2560320"/>
          <a:ext cx="10789920" cy="1828800"/>
        </p:xfrm>
        <a:graphic>
          <a:graphicData uri="http://schemas.openxmlformats.org/drawingml/2006/table">
            <a:tbl>
              <a:tblPr firstRow="1" bandRow="1">
                <a:tableStyleId>{5C22544A-7EE6-4342-B048-85BDC9FD1C3A}</a:tableStyleId>
              </a:tblPr>
              <a:tblGrid>
                <a:gridCol w="1097280"/>
                <a:gridCol w="4572000"/>
                <a:gridCol w="1737360"/>
                <a:gridCol w="3383280"/>
              </a:tblGrid>
              <a:tr h="365760">
                <a:tc>
                  <a:txBody>
                    <a:bodyPr/>
                    <a:lstStyle/>
                    <a:p>
                      <a:r>
                        <a:rPr sz="1100" b="1">
                          <a:solidFill>
                            <a:srgbClr val="FFFFFF"/>
                          </a:solidFill>
                          <a:latin typeface="Arial"/>
                        </a:rPr>
                        <a:t>Mã</a:t>
                      </a:r>
                    </a:p>
                  </a:txBody>
                  <a:tcPr marT="36576" marB="36576">
                    <a:solidFill>
                      <a:srgbClr val="F26F21"/>
                    </a:solidFill>
                  </a:tcPr>
                </a:tc>
                <a:tc>
                  <a:txBody>
                    <a:bodyPr/>
                    <a:lstStyle/>
                    <a:p>
                      <a:r>
                        <a:rPr sz="1100" b="1">
                          <a:solidFill>
                            <a:srgbClr val="FFFFFF"/>
                          </a:solidFill>
                          <a:latin typeface="Arial"/>
                        </a:rPr>
                        <a:t>Yêu cầu</a:t>
                      </a:r>
                    </a:p>
                  </a:txBody>
                  <a:tcPr marT="36576" marB="36576">
                    <a:solidFill>
                      <a:srgbClr val="F26F21"/>
                    </a:solidFill>
                  </a:tcPr>
                </a:tc>
                <a:tc>
                  <a:txBody>
                    <a:bodyPr/>
                    <a:lstStyle/>
                    <a:p>
                      <a:r>
                        <a:rPr sz="1100" b="1">
                          <a:solidFill>
                            <a:srgbClr val="FFFFFF"/>
                          </a:solidFill>
                          <a:latin typeface="Arial"/>
                        </a:rPr>
                        <a:t>Mức đáp ứng</a:t>
                      </a:r>
                    </a:p>
                  </a:txBody>
                  <a:tcPr marT="36576" marB="36576">
                    <a:solidFill>
                      <a:srgbClr val="F26F21"/>
                    </a:solidFill>
                  </a:tcPr>
                </a:tc>
                <a:tc>
                  <a:txBody>
                    <a:bodyPr/>
                    <a:lstStyle/>
                    <a:p>
                      <a:r>
                        <a:rPr sz="1100" b="1">
                          <a:solidFill>
                            <a:srgbClr val="FFFFFF"/>
                          </a:solidFill>
                          <a:latin typeface="Arial"/>
                        </a:rPr>
                        <a:t>Ghi chú</a:t>
                      </a:r>
                    </a:p>
                  </a:txBody>
                  <a:tcPr marT="36576" marB="36576">
                    <a:solidFill>
                      <a:srgbClr val="F26F21"/>
                    </a:solidFill>
                  </a:tcPr>
                </a:tc>
              </a:tr>
              <a:tr h="365760">
                <a:tc>
                  <a:txBody>
                    <a:bodyPr/>
                    <a:lstStyle/>
                    <a:p>
                      <a:r>
                        <a:rPr sz="1100" b="0">
                          <a:solidFill>
                            <a:srgbClr val="0C111D"/>
                          </a:solidFill>
                          <a:latin typeface="Arial"/>
                        </a:rPr>
                        <a:t>FR-04</a:t>
                      </a:r>
                    </a:p>
                  </a:txBody>
                  <a:tcPr marT="36576" marB="36576">
                    <a:solidFill>
                      <a:srgbClr val="FFFFFF"/>
                    </a:solidFill>
                  </a:tcPr>
                </a:tc>
                <a:tc>
                  <a:txBody>
                    <a:bodyPr/>
                    <a:lstStyle/>
                    <a:p>
                      <a:r>
                        <a:rPr sz="1100" b="0">
                          <a:solidFill>
                            <a:srgbClr val="0C111D"/>
                          </a:solidFill>
                          <a:latin typeface="Arial"/>
                        </a:rPr>
                        <a:t>Phân quyền xem tài liệu theo phòng ban, tích hợp SSO hiện có</a:t>
                      </a:r>
                    </a:p>
                  </a:txBody>
                  <a:tcPr marT="36576" marB="36576">
                    <a:solidFill>
                      <a:srgbClr val="FFFFFF"/>
                    </a:solidFill>
                  </a:tcPr>
                </a:tc>
                <a:tc>
                  <a:txBody>
                    <a:bodyPr/>
                    <a:lstStyle/>
                    <a:p>
                      <a:r>
                        <a:rPr sz="1100" b="0">
                          <a:solidFill>
                            <a:srgbClr val="0C111D"/>
                          </a:solidFill>
                          <a:latin typeface="Arial"/>
                        </a:rPr>
                        <a:t>Đáp ứng một phần</a:t>
                      </a:r>
                    </a:p>
                  </a:txBody>
                  <a:tcPr marT="36576" marB="36576">
                    <a:solidFill>
                      <a:srgbClr val="FFFFFF"/>
                    </a:solidFill>
                  </a:tcPr>
                </a:tc>
                <a:tc>
                  <a:txBody>
                    <a:bodyPr/>
                    <a:lstStyle/>
                    <a:p>
                      <a:r>
                        <a:rPr sz="1100" b="0">
                          <a:solidFill>
                            <a:srgbClr val="0C111D"/>
                          </a:solidFill>
                          <a:latin typeface="Arial"/>
                        </a:rPr>
                        <a:t>Đáp ứng khi khách cung cấp API/quyền truy cập hệ thống liên quan.</a:t>
                      </a:r>
                    </a:p>
                  </a:txBody>
                  <a:tcPr marT="36576" marB="36576">
                    <a:solidFill>
                      <a:srgbClr val="FFFFFF"/>
                    </a:solidFill>
                  </a:tcPr>
                </a:tc>
              </a:tr>
              <a:tr h="365760">
                <a:tc>
                  <a:txBody>
                    <a:bodyPr/>
                    <a:lstStyle/>
                    <a:p>
                      <a:r>
                        <a:rPr sz="1100" b="0">
                          <a:solidFill>
                            <a:srgbClr val="0C111D"/>
                          </a:solidFill>
                          <a:latin typeface="Arial"/>
                        </a:rPr>
                        <a:t>FR-06</a:t>
                      </a:r>
                    </a:p>
                  </a:txBody>
                  <a:tcPr marT="36576" marB="36576">
                    <a:solidFill>
                      <a:srgbClr val="F5F5F4"/>
                    </a:solidFill>
                  </a:tcPr>
                </a:tc>
                <a:tc>
                  <a:txBody>
                    <a:bodyPr/>
                    <a:lstStyle/>
                    <a:p>
                      <a:r>
                        <a:rPr sz="1100" b="0">
                          <a:solidFill>
                            <a:srgbClr val="0C111D"/>
                          </a:solidFill>
                          <a:latin typeface="Arial"/>
                        </a:rPr>
                        <a:t>Ứng dụng di động offline cho nhân viên hiện trường</a:t>
                      </a:r>
                    </a:p>
                  </a:txBody>
                  <a:tcPr marT="36576" marB="36576">
                    <a:solidFill>
                      <a:srgbClr val="F5F5F4"/>
                    </a:solidFill>
                  </a:tcPr>
                </a:tc>
                <a:tc>
                  <a:txBody>
                    <a:bodyPr/>
                    <a:lstStyle/>
                    <a:p>
                      <a:r>
                        <a:rPr sz="1100" b="0">
                          <a:solidFill>
                            <a:srgbClr val="0C111D"/>
                          </a:solidFill>
                          <a:latin typeface="Arial"/>
                        </a:rPr>
                        <a:t>Không đáp ứng</a:t>
                      </a:r>
                    </a:p>
                  </a:txBody>
                  <a:tcPr marT="36576" marB="36576">
                    <a:solidFill>
                      <a:srgbClr val="F5F5F4"/>
                    </a:solidFill>
                  </a:tcPr>
                </a:tc>
                <a:tc>
                  <a:txBody>
                    <a:bodyPr/>
                    <a:lstStyle/>
                    <a:p>
                      <a:r>
                        <a:rPr sz="1100" b="0">
                          <a:solidFill>
                            <a:srgbClr val="0C111D"/>
                          </a:solidFill>
                          <a:latin typeface="Arial"/>
                        </a:rPr>
                        <a:t>Ngoài phạm vi đề xuất (ứng dụng di động/offline).</a:t>
                      </a:r>
                    </a:p>
                  </a:txBody>
                  <a:tcPr marT="36576" marB="36576">
                    <a:solidFill>
                      <a:srgbClr val="F5F5F4"/>
                    </a:solidFill>
                  </a:tcPr>
                </a:tc>
              </a:tr>
              <a:tr h="365760">
                <a:tc>
                  <a:txBody>
                    <a:bodyPr/>
                    <a:lstStyle/>
                    <a:p>
                      <a:r>
                        <a:rPr sz="1100" b="0">
                          <a:solidFill>
                            <a:srgbClr val="0C111D"/>
                          </a:solidFill>
                          <a:latin typeface="Arial"/>
                        </a:rPr>
                        <a:t>FR-07</a:t>
                      </a:r>
                    </a:p>
                  </a:txBody>
                  <a:tcPr marT="36576" marB="36576">
                    <a:solidFill>
                      <a:srgbClr val="FFFFFF"/>
                    </a:solidFill>
                  </a:tcPr>
                </a:tc>
                <a:tc>
                  <a:txBody>
                    <a:bodyPr/>
                    <a:lstStyle/>
                    <a:p>
                      <a:r>
                        <a:rPr sz="1100" b="0">
                          <a:solidFill>
                            <a:srgbClr val="0C111D"/>
                          </a:solidFill>
                          <a:latin typeface="Arial"/>
                        </a:rPr>
                        <a:t>Tích hợp vào kênh chat nội bộ qua API</a:t>
                      </a:r>
                    </a:p>
                  </a:txBody>
                  <a:tcPr marT="36576" marB="36576">
                    <a:solidFill>
                      <a:srgbClr val="FFFFFF"/>
                    </a:solidFill>
                  </a:tcPr>
                </a:tc>
                <a:tc>
                  <a:txBody>
                    <a:bodyPr/>
                    <a:lstStyle/>
                    <a:p>
                      <a:r>
                        <a:rPr sz="1100" b="0">
                          <a:solidFill>
                            <a:srgbClr val="0C111D"/>
                          </a:solidFill>
                          <a:latin typeface="Arial"/>
                        </a:rPr>
                        <a:t>Đáp ứng một phần</a:t>
                      </a:r>
                    </a:p>
                  </a:txBody>
                  <a:tcPr marT="36576" marB="36576">
                    <a:solidFill>
                      <a:srgbClr val="FFFFFF"/>
                    </a:solidFill>
                  </a:tcPr>
                </a:tc>
                <a:tc>
                  <a:txBody>
                    <a:bodyPr/>
                    <a:lstStyle/>
                    <a:p>
                      <a:r>
                        <a:rPr sz="1100" b="0">
                          <a:solidFill>
                            <a:srgbClr val="0C111D"/>
                          </a:solidFill>
                          <a:latin typeface="Arial"/>
                        </a:rPr>
                        <a:t>Đáp ứng khi khách cung cấp API/quyền truy cập hệ thống liên quan.</a:t>
                      </a:r>
                    </a:p>
                  </a:txBody>
                  <a:tcPr marT="36576" marB="36576">
                    <a:solidFill>
                      <a:srgbClr val="FFFFFF"/>
                    </a:solidFill>
                  </a:tcPr>
                </a:tc>
              </a:tr>
              <a:tr h="365760">
                <a:tc>
                  <a:txBody>
                    <a:bodyPr/>
                    <a:lstStyle/>
                    <a:p>
                      <a:r>
                        <a:rPr sz="1100" b="0">
                          <a:solidFill>
                            <a:srgbClr val="0C111D"/>
                          </a:solidFill>
                          <a:latin typeface="Arial"/>
                        </a:rPr>
                        <a:t>FR-08</a:t>
                      </a:r>
                    </a:p>
                  </a:txBody>
                  <a:tcPr marT="36576" marB="36576">
                    <a:solidFill>
                      <a:srgbClr val="F5F5F4"/>
                    </a:solidFill>
                  </a:tcPr>
                </a:tc>
                <a:tc>
                  <a:txBody>
                    <a:bodyPr/>
                    <a:lstStyle/>
                    <a:p>
                      <a:r>
                        <a:rPr sz="1100" b="0">
                          <a:solidFill>
                            <a:srgbClr val="0C111D"/>
                          </a:solidFill>
                          <a:latin typeface="Arial"/>
                        </a:rPr>
                        <a:t>Dùng AI</a:t>
                      </a:r>
                    </a:p>
                  </a:txBody>
                  <a:tcPr marT="36576" marB="36576">
                    <a:solidFill>
                      <a:srgbClr val="F5F5F4"/>
                    </a:solidFill>
                  </a:tcPr>
                </a:tc>
                <a:tc>
                  <a:txBody>
                    <a:bodyPr/>
                    <a:lstStyle/>
                    <a:p>
                      <a:r>
                        <a:rPr sz="1100" b="0">
                          <a:solidFill>
                            <a:srgbClr val="0C111D"/>
                          </a:solidFill>
                          <a:latin typeface="Arial"/>
                        </a:rPr>
                        <a:t>Cần làm rõ</a:t>
                      </a:r>
                    </a:p>
                  </a:txBody>
                  <a:tcPr marT="36576" marB="36576">
                    <a:solidFill>
                      <a:srgbClr val="F5F5F4"/>
                    </a:solidFill>
                  </a:tcPr>
                </a:tc>
                <a:tc>
                  <a:txBody>
                    <a:bodyPr/>
                    <a:lstStyle/>
                    <a:p>
                      <a:r>
                        <a:rPr sz="1100" b="0">
                          <a:solidFill>
                            <a:srgbClr val="0C111D"/>
                          </a:solidFill>
                          <a:latin typeface="Arial"/>
                        </a:rPr>
                        <a:t>Yêu cầu quá ngắn, cần khách mô tả rõ hơn.</a:t>
                      </a:r>
                    </a:p>
                  </a:txBody>
                  <a:tcPr marT="36576" marB="36576">
                    <a:solidFill>
                      <a:srgbClr val="F5F5F4"/>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Dự án tương tự đã triển khai</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Case study được phép trình bày (số liệu minh họa)</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13</a:t>
            </a:r>
          </a:p>
        </p:txBody>
      </p:sp>
      <p:sp>
        <p:nvSpPr>
          <p:cNvPr id="7" name="Rounded Rectangle 6"/>
          <p:cNvSpPr/>
          <p:nvPr/>
        </p:nvSpPr>
        <p:spPr>
          <a:xfrm>
            <a:off x="685800" y="1325880"/>
            <a:ext cx="5166360" cy="4754880"/>
          </a:xfrm>
          <a:prstGeom prst="roundRect">
            <a:avLst>
              <a:gd name="adj" fmla="val 5000"/>
            </a:avLst>
          </a:prstGeom>
          <a:solidFill>
            <a:srgbClr val="F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25880"/>
            <a:ext cx="5166360" cy="73152"/>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08760"/>
            <a:ext cx="4800600" cy="822960"/>
          </a:xfrm>
          <a:prstGeom prst="rect">
            <a:avLst/>
          </a:prstGeom>
          <a:noFill/>
        </p:spPr>
        <p:txBody>
          <a:bodyPr wrap="square">
            <a:spAutoFit/>
          </a:bodyPr>
          <a:lstStyle/>
          <a:p>
            <a:r>
              <a:rPr sz="1400" b="1">
                <a:solidFill>
                  <a:srgbClr val="0C111D"/>
                </a:solidFill>
                <a:latin typeface="Arial"/>
              </a:rPr>
              <a:t>Trợ lý hỏi đáp quy định nội bộ cho ngân hàng (giả lập)</a:t>
            </a:r>
          </a:p>
        </p:txBody>
      </p:sp>
      <p:sp>
        <p:nvSpPr>
          <p:cNvPr id="10" name="TextBox 9"/>
          <p:cNvSpPr txBox="1"/>
          <p:nvPr/>
        </p:nvSpPr>
        <p:spPr>
          <a:xfrm>
            <a:off x="868680" y="2286000"/>
            <a:ext cx="4800600" cy="274320"/>
          </a:xfrm>
          <a:prstGeom prst="rect">
            <a:avLst/>
          </a:prstGeom>
          <a:noFill/>
        </p:spPr>
        <p:txBody>
          <a:bodyPr wrap="square">
            <a:spAutoFit/>
          </a:bodyPr>
          <a:lstStyle/>
          <a:p>
            <a:r>
              <a:rPr sz="1000" b="0">
                <a:solidFill>
                  <a:srgbClr val="6B7280"/>
                </a:solidFill>
                <a:latin typeface="Arial"/>
              </a:rPr>
              <a:t>Tài chính ngân hàng · Việt Nam · 2025</a:t>
            </a:r>
          </a:p>
        </p:txBody>
      </p:sp>
      <p:sp>
        <p:nvSpPr>
          <p:cNvPr id="11" name="TextBox 10"/>
          <p:cNvSpPr txBox="1"/>
          <p:nvPr/>
        </p:nvSpPr>
        <p:spPr>
          <a:xfrm>
            <a:off x="868680" y="2651760"/>
            <a:ext cx="4800600" cy="274320"/>
          </a:xfrm>
          <a:prstGeom prst="rect">
            <a:avLst/>
          </a:prstGeom>
          <a:noFill/>
        </p:spPr>
        <p:txBody>
          <a:bodyPr wrap="square">
            <a:spAutoFit/>
          </a:bodyPr>
          <a:lstStyle/>
          <a:p>
            <a:r>
              <a:rPr sz="1000" b="1">
                <a:solidFill>
                  <a:srgbClr val="F26F21"/>
                </a:solidFill>
                <a:latin typeface="Arial"/>
              </a:rPr>
              <a:t>Thách thức</a:t>
            </a:r>
          </a:p>
        </p:txBody>
      </p:sp>
      <p:sp>
        <p:nvSpPr>
          <p:cNvPr id="12" name="TextBox 11"/>
          <p:cNvSpPr txBox="1"/>
          <p:nvPr/>
        </p:nvSpPr>
        <p:spPr>
          <a:xfrm>
            <a:off x="868680" y="2907791"/>
            <a:ext cx="4800600" cy="914400"/>
          </a:xfrm>
          <a:prstGeom prst="rect">
            <a:avLst/>
          </a:prstGeom>
          <a:noFill/>
        </p:spPr>
        <p:txBody>
          <a:bodyPr wrap="square">
            <a:spAutoFit/>
          </a:bodyPr>
          <a:lstStyle/>
          <a:p>
            <a:pPr>
              <a:spcAft>
                <a:spcPts val="200"/>
              </a:spcAft>
            </a:pPr>
            <a:r>
              <a:rPr sz="1000" b="0">
                <a:solidFill>
                  <a:srgbClr val="0C111D"/>
                </a:solidFill>
                <a:latin typeface="Arial"/>
              </a:rPr>
              <a:t>Nhân viên chi nhánh phải chờ phòng pháp chế trả lời câu hỏi về quy định.</a:t>
            </a:r>
          </a:p>
        </p:txBody>
      </p:sp>
      <p:sp>
        <p:nvSpPr>
          <p:cNvPr id="13" name="TextBox 12"/>
          <p:cNvSpPr txBox="1"/>
          <p:nvPr/>
        </p:nvSpPr>
        <p:spPr>
          <a:xfrm>
            <a:off x="868680" y="3749039"/>
            <a:ext cx="4800600" cy="274320"/>
          </a:xfrm>
          <a:prstGeom prst="rect">
            <a:avLst/>
          </a:prstGeom>
          <a:noFill/>
        </p:spPr>
        <p:txBody>
          <a:bodyPr wrap="square">
            <a:spAutoFit/>
          </a:bodyPr>
          <a:lstStyle/>
          <a:p>
            <a:r>
              <a:rPr sz="1000" b="1">
                <a:solidFill>
                  <a:srgbClr val="F26F21"/>
                </a:solidFill>
                <a:latin typeface="Arial"/>
              </a:rPr>
              <a:t>Giải pháp</a:t>
            </a:r>
          </a:p>
        </p:txBody>
      </p:sp>
      <p:sp>
        <p:nvSpPr>
          <p:cNvPr id="14" name="TextBox 13"/>
          <p:cNvSpPr txBox="1"/>
          <p:nvPr/>
        </p:nvSpPr>
        <p:spPr>
          <a:xfrm>
            <a:off x="868680" y="4005072"/>
            <a:ext cx="4800600" cy="914400"/>
          </a:xfrm>
          <a:prstGeom prst="rect">
            <a:avLst/>
          </a:prstGeom>
          <a:noFill/>
        </p:spPr>
        <p:txBody>
          <a:bodyPr wrap="square">
            <a:spAutoFit/>
          </a:bodyPr>
          <a:lstStyle/>
          <a:p>
            <a:pPr>
              <a:spcAft>
                <a:spcPts val="200"/>
              </a:spcAft>
            </a:pPr>
            <a:r>
              <a:rPr sz="1000" b="0">
                <a:solidFill>
                  <a:srgbClr val="0C111D"/>
                </a:solidFill>
                <a:latin typeface="Arial"/>
              </a:rPr>
              <a:t>Hỏi đáp trên kho văn bản quy định, phân quyền theo phòng ban, lưu vết câu hỏi.</a:t>
            </a:r>
          </a:p>
        </p:txBody>
      </p:sp>
      <p:sp>
        <p:nvSpPr>
          <p:cNvPr id="15" name="TextBox 14"/>
          <p:cNvSpPr txBox="1"/>
          <p:nvPr/>
        </p:nvSpPr>
        <p:spPr>
          <a:xfrm>
            <a:off x="868680" y="4846320"/>
            <a:ext cx="4800600" cy="274320"/>
          </a:xfrm>
          <a:prstGeom prst="rect">
            <a:avLst/>
          </a:prstGeom>
          <a:noFill/>
        </p:spPr>
        <p:txBody>
          <a:bodyPr wrap="square">
            <a:spAutoFit/>
          </a:bodyPr>
          <a:lstStyle/>
          <a:p>
            <a:r>
              <a:rPr sz="1000" b="1">
                <a:solidFill>
                  <a:srgbClr val="F26F21"/>
                </a:solidFill>
                <a:latin typeface="Arial"/>
              </a:rPr>
              <a:t>Kết quả</a:t>
            </a:r>
          </a:p>
        </p:txBody>
      </p:sp>
      <p:sp>
        <p:nvSpPr>
          <p:cNvPr id="16" name="TextBox 15"/>
          <p:cNvSpPr txBox="1"/>
          <p:nvPr/>
        </p:nvSpPr>
        <p:spPr>
          <a:xfrm>
            <a:off x="868680" y="5102352"/>
            <a:ext cx="4800600" cy="914400"/>
          </a:xfrm>
          <a:prstGeom prst="rect">
            <a:avLst/>
          </a:prstGeom>
          <a:noFill/>
        </p:spPr>
        <p:txBody>
          <a:bodyPr wrap="square">
            <a:spAutoFit/>
          </a:bodyPr>
          <a:lstStyle/>
          <a:p>
            <a:pPr>
              <a:spcAft>
                <a:spcPts val="200"/>
              </a:spcAft>
            </a:pPr>
            <a:r>
              <a:rPr sz="1000" b="0">
                <a:solidFill>
                  <a:srgbClr val="0C111D"/>
                </a:solidFill>
                <a:latin typeface="Arial"/>
              </a:rPr>
              <a:t>•  Giảm 70% câu hỏi gửi phòng pháp chế</a:t>
            </a:r>
          </a:p>
          <a:p>
            <a:pPr>
              <a:spcAft>
                <a:spcPts val="200"/>
              </a:spcAft>
            </a:pPr>
            <a:r>
              <a:rPr sz="1000" b="0">
                <a:solidFill>
                  <a:srgbClr val="0C111D"/>
                </a:solidFill>
                <a:latin typeface="Arial"/>
              </a:rPr>
              <a:t>•  Thời gian trả lời từ 2 ngày xuống vài giây</a:t>
            </a:r>
          </a:p>
        </p:txBody>
      </p:sp>
      <p:sp>
        <p:nvSpPr>
          <p:cNvPr id="17" name="Rounded Rectangle 16"/>
          <p:cNvSpPr/>
          <p:nvPr/>
        </p:nvSpPr>
        <p:spPr>
          <a:xfrm>
            <a:off x="6080760" y="1325880"/>
            <a:ext cx="5166360" cy="4754880"/>
          </a:xfrm>
          <a:prstGeom prst="roundRect">
            <a:avLst>
              <a:gd name="adj" fmla="val 5000"/>
            </a:avLst>
          </a:prstGeom>
          <a:solidFill>
            <a:srgbClr val="F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80760" y="1325880"/>
            <a:ext cx="5166360" cy="73152"/>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1508760"/>
            <a:ext cx="4800600" cy="822960"/>
          </a:xfrm>
          <a:prstGeom prst="rect">
            <a:avLst/>
          </a:prstGeom>
          <a:noFill/>
        </p:spPr>
        <p:txBody>
          <a:bodyPr wrap="square">
            <a:spAutoFit/>
          </a:bodyPr>
          <a:lstStyle/>
          <a:p>
            <a:r>
              <a:rPr sz="1400" b="1">
                <a:solidFill>
                  <a:srgbClr val="0C111D"/>
                </a:solidFill>
                <a:latin typeface="Arial"/>
              </a:rPr>
              <a:t>Chatbot tra cứu tài liệu kỹ thuật cho nhà sản xuất thiết bị (giả lập)</a:t>
            </a:r>
          </a:p>
        </p:txBody>
      </p:sp>
      <p:sp>
        <p:nvSpPr>
          <p:cNvPr id="20" name="TextBox 19"/>
          <p:cNvSpPr txBox="1"/>
          <p:nvPr/>
        </p:nvSpPr>
        <p:spPr>
          <a:xfrm>
            <a:off x="6263640" y="2286000"/>
            <a:ext cx="4800600" cy="274320"/>
          </a:xfrm>
          <a:prstGeom prst="rect">
            <a:avLst/>
          </a:prstGeom>
          <a:noFill/>
        </p:spPr>
        <p:txBody>
          <a:bodyPr wrap="square">
            <a:spAutoFit/>
          </a:bodyPr>
          <a:lstStyle/>
          <a:p>
            <a:r>
              <a:rPr sz="1000" b="0">
                <a:solidFill>
                  <a:srgbClr val="6B7280"/>
                </a:solidFill>
                <a:latin typeface="Arial"/>
              </a:rPr>
              <a:t>Sản xuất · Nhật Bản · 2025</a:t>
            </a:r>
          </a:p>
        </p:txBody>
      </p:sp>
      <p:sp>
        <p:nvSpPr>
          <p:cNvPr id="21" name="TextBox 20"/>
          <p:cNvSpPr txBox="1"/>
          <p:nvPr/>
        </p:nvSpPr>
        <p:spPr>
          <a:xfrm>
            <a:off x="6263640" y="2651760"/>
            <a:ext cx="4800600" cy="274320"/>
          </a:xfrm>
          <a:prstGeom prst="rect">
            <a:avLst/>
          </a:prstGeom>
          <a:noFill/>
        </p:spPr>
        <p:txBody>
          <a:bodyPr wrap="square">
            <a:spAutoFit/>
          </a:bodyPr>
          <a:lstStyle/>
          <a:p>
            <a:r>
              <a:rPr sz="1000" b="1">
                <a:solidFill>
                  <a:srgbClr val="F26F21"/>
                </a:solidFill>
                <a:latin typeface="Arial"/>
              </a:rPr>
              <a:t>Thách thức</a:t>
            </a:r>
          </a:p>
        </p:txBody>
      </p:sp>
      <p:sp>
        <p:nvSpPr>
          <p:cNvPr id="22" name="TextBox 21"/>
          <p:cNvSpPr txBox="1"/>
          <p:nvPr/>
        </p:nvSpPr>
        <p:spPr>
          <a:xfrm>
            <a:off x="6263640" y="2907791"/>
            <a:ext cx="4800600" cy="914400"/>
          </a:xfrm>
          <a:prstGeom prst="rect">
            <a:avLst/>
          </a:prstGeom>
          <a:noFill/>
        </p:spPr>
        <p:txBody>
          <a:bodyPr wrap="square">
            <a:spAutoFit/>
          </a:bodyPr>
          <a:lstStyle/>
          <a:p>
            <a:pPr>
              <a:spcAft>
                <a:spcPts val="200"/>
              </a:spcAft>
            </a:pPr>
            <a:r>
              <a:rPr sz="1000" b="0">
                <a:solidFill>
                  <a:srgbClr val="0C111D"/>
                </a:solidFill>
                <a:latin typeface="Arial"/>
              </a:rPr>
              <a:t>Kỹ sư bảo trì mất nhiều thời gian tìm thông tin trong hàng nghìn trang manual tiếng Nhật.</a:t>
            </a:r>
          </a:p>
        </p:txBody>
      </p:sp>
      <p:sp>
        <p:nvSpPr>
          <p:cNvPr id="23" name="TextBox 22"/>
          <p:cNvSpPr txBox="1"/>
          <p:nvPr/>
        </p:nvSpPr>
        <p:spPr>
          <a:xfrm>
            <a:off x="6263640" y="3749039"/>
            <a:ext cx="4800600" cy="274320"/>
          </a:xfrm>
          <a:prstGeom prst="rect">
            <a:avLst/>
          </a:prstGeom>
          <a:noFill/>
        </p:spPr>
        <p:txBody>
          <a:bodyPr wrap="square">
            <a:spAutoFit/>
          </a:bodyPr>
          <a:lstStyle/>
          <a:p>
            <a:r>
              <a:rPr sz="1000" b="1">
                <a:solidFill>
                  <a:srgbClr val="F26F21"/>
                </a:solidFill>
                <a:latin typeface="Arial"/>
              </a:rPr>
              <a:t>Giải pháp</a:t>
            </a:r>
          </a:p>
        </p:txBody>
      </p:sp>
      <p:sp>
        <p:nvSpPr>
          <p:cNvPr id="24" name="TextBox 23"/>
          <p:cNvSpPr txBox="1"/>
          <p:nvPr/>
        </p:nvSpPr>
        <p:spPr>
          <a:xfrm>
            <a:off x="6263640" y="4005072"/>
            <a:ext cx="4800600" cy="914400"/>
          </a:xfrm>
          <a:prstGeom prst="rect">
            <a:avLst/>
          </a:prstGeom>
          <a:noFill/>
        </p:spPr>
        <p:txBody>
          <a:bodyPr wrap="square">
            <a:spAutoFit/>
          </a:bodyPr>
          <a:lstStyle/>
          <a:p>
            <a:pPr>
              <a:spcAft>
                <a:spcPts val="200"/>
              </a:spcAft>
            </a:pPr>
            <a:r>
              <a:rPr sz="1000" b="0">
                <a:solidFill>
                  <a:srgbClr val="0C111D"/>
                </a:solidFill>
                <a:latin typeface="Arial"/>
              </a:rPr>
              <a:t>Trợ lý RAG on-premise, trả lời kèm trích dẫn số trang, tích hợp vào cổng nội bộ.</a:t>
            </a:r>
          </a:p>
        </p:txBody>
      </p:sp>
      <p:sp>
        <p:nvSpPr>
          <p:cNvPr id="25" name="TextBox 24"/>
          <p:cNvSpPr txBox="1"/>
          <p:nvPr/>
        </p:nvSpPr>
        <p:spPr>
          <a:xfrm>
            <a:off x="6263640" y="4846320"/>
            <a:ext cx="4800600" cy="274320"/>
          </a:xfrm>
          <a:prstGeom prst="rect">
            <a:avLst/>
          </a:prstGeom>
          <a:noFill/>
        </p:spPr>
        <p:txBody>
          <a:bodyPr wrap="square">
            <a:spAutoFit/>
          </a:bodyPr>
          <a:lstStyle/>
          <a:p>
            <a:r>
              <a:rPr sz="1000" b="1">
                <a:solidFill>
                  <a:srgbClr val="F26F21"/>
                </a:solidFill>
                <a:latin typeface="Arial"/>
              </a:rPr>
              <a:t>Kết quả</a:t>
            </a:r>
          </a:p>
        </p:txBody>
      </p:sp>
      <p:sp>
        <p:nvSpPr>
          <p:cNvPr id="26" name="TextBox 25"/>
          <p:cNvSpPr txBox="1"/>
          <p:nvPr/>
        </p:nvSpPr>
        <p:spPr>
          <a:xfrm>
            <a:off x="6263640" y="5102352"/>
            <a:ext cx="4800600" cy="914400"/>
          </a:xfrm>
          <a:prstGeom prst="rect">
            <a:avLst/>
          </a:prstGeom>
          <a:noFill/>
        </p:spPr>
        <p:txBody>
          <a:bodyPr wrap="square">
            <a:spAutoFit/>
          </a:bodyPr>
          <a:lstStyle/>
          <a:p>
            <a:pPr>
              <a:spcAft>
                <a:spcPts val="200"/>
              </a:spcAft>
            </a:pPr>
            <a:r>
              <a:rPr sz="1000" b="0">
                <a:solidFill>
                  <a:srgbClr val="0C111D"/>
                </a:solidFill>
                <a:latin typeface="Arial"/>
              </a:rPr>
              <a:t>•  Giảm 60% thời gian tra cứu</a:t>
            </a:r>
          </a:p>
          <a:p>
            <a:pPr>
              <a:spcAft>
                <a:spcPts val="200"/>
              </a:spcAft>
            </a:pPr>
            <a:r>
              <a:rPr sz="1000" b="0">
                <a:solidFill>
                  <a:srgbClr val="0C111D"/>
                </a:solidFill>
                <a:latin typeface="Arial"/>
              </a:rPr>
              <a:t>•  85% câu trả lời được kỹ sư đánh giá đúng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Chi phí dự kiến (ước tính sơ bộ)</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Trọn gói (Fixed price) · Tính bằng code: ngày công theo WBS × đơn giá theo vai trò · Chưa gồm VAT</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14</a:t>
            </a:r>
          </a:p>
        </p:txBody>
      </p:sp>
      <p:graphicFrame>
        <p:nvGraphicFramePr>
          <p:cNvPr id="7" name="Table 6"/>
          <p:cNvGraphicFramePr>
            <a:graphicFrameLocks noGrp="1"/>
          </p:cNvGraphicFramePr>
          <p:nvPr/>
        </p:nvGraphicFramePr>
        <p:xfrm>
          <a:off x="685800" y="1325880"/>
          <a:ext cx="6949440" cy="2194560"/>
        </p:xfrm>
        <a:graphic>
          <a:graphicData uri="http://schemas.openxmlformats.org/drawingml/2006/table">
            <a:tbl>
              <a:tblPr firstRow="1" bandRow="1">
                <a:tableStyleId>{5C22544A-7EE6-4342-B048-85BDC9FD1C3A}</a:tableStyleId>
              </a:tblPr>
              <a:tblGrid>
                <a:gridCol w="2194560"/>
                <a:gridCol w="1188720"/>
                <a:gridCol w="1737360"/>
                <a:gridCol w="1828800"/>
              </a:tblGrid>
              <a:tr h="365760">
                <a:tc>
                  <a:txBody>
                    <a:bodyPr/>
                    <a:lstStyle/>
                    <a:p>
                      <a:r>
                        <a:rPr sz="1200" b="1">
                          <a:solidFill>
                            <a:srgbClr val="FFFFFF"/>
                          </a:solidFill>
                          <a:latin typeface="Arial"/>
                        </a:rPr>
                        <a:t>Giai đoạn</a:t>
                      </a:r>
                    </a:p>
                  </a:txBody>
                  <a:tcPr marT="36576" marB="36576">
                    <a:solidFill>
                      <a:srgbClr val="F26F21"/>
                    </a:solidFill>
                  </a:tcPr>
                </a:tc>
                <a:tc>
                  <a:txBody>
                    <a:bodyPr/>
                    <a:lstStyle/>
                    <a:p>
                      <a:r>
                        <a:rPr sz="1200" b="1">
                          <a:solidFill>
                            <a:srgbClr val="FFFFFF"/>
                          </a:solidFill>
                          <a:latin typeface="Arial"/>
                        </a:rPr>
                        <a:t>Ngày công</a:t>
                      </a:r>
                    </a:p>
                  </a:txBody>
                  <a:tcPr marT="36576" marB="36576">
                    <a:solidFill>
                      <a:srgbClr val="F26F21"/>
                    </a:solidFill>
                  </a:tcPr>
                </a:tc>
                <a:tc>
                  <a:txBody>
                    <a:bodyPr/>
                    <a:lstStyle/>
                    <a:p>
                      <a:r>
                        <a:rPr sz="1200" b="1">
                          <a:solidFill>
                            <a:srgbClr val="FFFFFF"/>
                          </a:solidFill>
                          <a:latin typeface="Arial"/>
                        </a:rPr>
                        <a:t>Chi phí</a:t>
                      </a:r>
                    </a:p>
                  </a:txBody>
                  <a:tcPr marT="36576" marB="36576">
                    <a:solidFill>
                      <a:srgbClr val="F26F21"/>
                    </a:solidFill>
                  </a:tcPr>
                </a:tc>
                <a:tc>
                  <a:txBody>
                    <a:bodyPr/>
                    <a:lstStyle/>
                    <a:p>
                      <a:r>
                        <a:rPr sz="1200" b="1">
                          <a:solidFill>
                            <a:srgbClr val="FFFFFF"/>
                          </a:solidFill>
                          <a:latin typeface="Arial"/>
                        </a:rPr>
                        <a:t>Khoảng ước tính</a:t>
                      </a:r>
                    </a:p>
                  </a:txBody>
                  <a:tcPr marT="36576" marB="36576">
                    <a:solidFill>
                      <a:srgbClr val="F26F21"/>
                    </a:solidFill>
                  </a:tcPr>
                </a:tc>
              </a:tr>
              <a:tr h="365760">
                <a:tc>
                  <a:txBody>
                    <a:bodyPr/>
                    <a:lstStyle/>
                    <a:p>
                      <a:r>
                        <a:rPr sz="1200" b="0">
                          <a:solidFill>
                            <a:srgbClr val="0C111D"/>
                          </a:solidFill>
                          <a:latin typeface="Arial"/>
                        </a:rPr>
                        <a:t>PoC</a:t>
                      </a:r>
                    </a:p>
                  </a:txBody>
                  <a:tcPr marT="36576" marB="36576">
                    <a:solidFill>
                      <a:srgbClr val="FFFFFF"/>
                    </a:solidFill>
                  </a:tcPr>
                </a:tc>
                <a:tc>
                  <a:txBody>
                    <a:bodyPr/>
                    <a:lstStyle/>
                    <a:p>
                      <a:r>
                        <a:rPr sz="1200" b="0">
                          <a:solidFill>
                            <a:srgbClr val="0C111D"/>
                          </a:solidFill>
                          <a:latin typeface="Arial"/>
                        </a:rPr>
                        <a:t>12.0</a:t>
                      </a:r>
                    </a:p>
                  </a:txBody>
                  <a:tcPr marT="36576" marB="36576">
                    <a:solidFill>
                      <a:srgbClr val="FFFFFF"/>
                    </a:solidFill>
                  </a:tcPr>
                </a:tc>
                <a:tc>
                  <a:txBody>
                    <a:bodyPr/>
                    <a:lstStyle/>
                    <a:p>
                      <a:r>
                        <a:rPr sz="1200" b="0">
                          <a:solidFill>
                            <a:srgbClr val="0C111D"/>
                          </a:solidFill>
                          <a:latin typeface="Arial"/>
                        </a:rPr>
                        <a:t>39.600.000 ₫</a:t>
                      </a:r>
                    </a:p>
                  </a:txBody>
                  <a:tcPr marT="36576" marB="36576">
                    <a:solidFill>
                      <a:srgbClr val="FFFFFF"/>
                    </a:solidFill>
                  </a:tcPr>
                </a:tc>
                <a:tc>
                  <a:txBody>
                    <a:bodyPr/>
                    <a:lstStyle/>
                    <a:p>
                      <a:r>
                        <a:rPr sz="1200" b="0">
                          <a:solidFill>
                            <a:srgbClr val="0C111D"/>
                          </a:solidFill>
                          <a:latin typeface="Arial"/>
                        </a:rPr>
                        <a:t>33.000.000 ₫ – 49.500.000 ₫</a:t>
                      </a:r>
                    </a:p>
                  </a:txBody>
                  <a:tcPr marT="36576" marB="36576">
                    <a:solidFill>
                      <a:srgbClr val="FFFFFF"/>
                    </a:solidFill>
                  </a:tcPr>
                </a:tc>
              </a:tr>
              <a:tr h="365760">
                <a:tc>
                  <a:txBody>
                    <a:bodyPr/>
                    <a:lstStyle/>
                    <a:p>
                      <a:r>
                        <a:rPr sz="1200" b="0">
                          <a:solidFill>
                            <a:srgbClr val="0C111D"/>
                          </a:solidFill>
                          <a:latin typeface="Arial"/>
                        </a:rPr>
                        <a:t>MVP</a:t>
                      </a:r>
                    </a:p>
                  </a:txBody>
                  <a:tcPr marT="36576" marB="36576">
                    <a:solidFill>
                      <a:srgbClr val="F5F5F4"/>
                    </a:solidFill>
                  </a:tcPr>
                </a:tc>
                <a:tc>
                  <a:txBody>
                    <a:bodyPr/>
                    <a:lstStyle/>
                    <a:p>
                      <a:r>
                        <a:rPr sz="1200" b="0">
                          <a:solidFill>
                            <a:srgbClr val="0C111D"/>
                          </a:solidFill>
                          <a:latin typeface="Arial"/>
                        </a:rPr>
                        <a:t>40.0</a:t>
                      </a:r>
                    </a:p>
                  </a:txBody>
                  <a:tcPr marT="36576" marB="36576">
                    <a:solidFill>
                      <a:srgbClr val="F5F5F4"/>
                    </a:solidFill>
                  </a:tcPr>
                </a:tc>
                <a:tc>
                  <a:txBody>
                    <a:bodyPr/>
                    <a:lstStyle/>
                    <a:p>
                      <a:r>
                        <a:rPr sz="1200" b="0">
                          <a:solidFill>
                            <a:srgbClr val="0C111D"/>
                          </a:solidFill>
                          <a:latin typeface="Arial"/>
                        </a:rPr>
                        <a:t>127.200.000 ₫</a:t>
                      </a:r>
                    </a:p>
                  </a:txBody>
                  <a:tcPr marT="36576" marB="36576">
                    <a:solidFill>
                      <a:srgbClr val="F5F5F4"/>
                    </a:solidFill>
                  </a:tcPr>
                </a:tc>
                <a:tc>
                  <a:txBody>
                    <a:bodyPr/>
                    <a:lstStyle/>
                    <a:p>
                      <a:r>
                        <a:rPr sz="1200" b="0">
                          <a:solidFill>
                            <a:srgbClr val="0C111D"/>
                          </a:solidFill>
                          <a:latin typeface="Arial"/>
                        </a:rPr>
                        <a:t>95.400.000 ₫ – 159.000.000 ₫</a:t>
                      </a:r>
                    </a:p>
                  </a:txBody>
                  <a:tcPr marT="36576" marB="36576">
                    <a:solidFill>
                      <a:srgbClr val="F5F5F4"/>
                    </a:solidFill>
                  </a:tcPr>
                </a:tc>
              </a:tr>
              <a:tr h="365760">
                <a:tc>
                  <a:txBody>
                    <a:bodyPr/>
                    <a:lstStyle/>
                    <a:p>
                      <a:r>
                        <a:rPr sz="1200" b="0">
                          <a:solidFill>
                            <a:srgbClr val="0C111D"/>
                          </a:solidFill>
                          <a:latin typeface="Arial"/>
                        </a:rPr>
                        <a:t>Production</a:t>
                      </a:r>
                    </a:p>
                  </a:txBody>
                  <a:tcPr marT="36576" marB="36576">
                    <a:solidFill>
                      <a:srgbClr val="FFFFFF"/>
                    </a:solidFill>
                  </a:tcPr>
                </a:tc>
                <a:tc>
                  <a:txBody>
                    <a:bodyPr/>
                    <a:lstStyle/>
                    <a:p>
                      <a:r>
                        <a:rPr sz="1200" b="0">
                          <a:solidFill>
                            <a:srgbClr val="0C111D"/>
                          </a:solidFill>
                          <a:latin typeface="Arial"/>
                        </a:rPr>
                        <a:t>80.0</a:t>
                      </a:r>
                    </a:p>
                  </a:txBody>
                  <a:tcPr marT="36576" marB="36576">
                    <a:solidFill>
                      <a:srgbClr val="FFFFFF"/>
                    </a:solidFill>
                  </a:tcPr>
                </a:tc>
                <a:tc>
                  <a:txBody>
                    <a:bodyPr/>
                    <a:lstStyle/>
                    <a:p>
                      <a:r>
                        <a:rPr sz="1200" b="0">
                          <a:solidFill>
                            <a:srgbClr val="0C111D"/>
                          </a:solidFill>
                          <a:latin typeface="Arial"/>
                        </a:rPr>
                        <a:t>240.600.000 ₫</a:t>
                      </a:r>
                    </a:p>
                  </a:txBody>
                  <a:tcPr marT="36576" marB="36576">
                    <a:solidFill>
                      <a:srgbClr val="FFFFFF"/>
                    </a:solidFill>
                  </a:tcPr>
                </a:tc>
                <a:tc>
                  <a:txBody>
                    <a:bodyPr/>
                    <a:lstStyle/>
                    <a:p>
                      <a:r>
                        <a:rPr sz="1200" b="0">
                          <a:solidFill>
                            <a:srgbClr val="0C111D"/>
                          </a:solidFill>
                          <a:latin typeface="Arial"/>
                        </a:rPr>
                        <a:t>180.450.000 ₫ – 300.750.000 ₫</a:t>
                      </a:r>
                    </a:p>
                  </a:txBody>
                  <a:tcPr marT="36576" marB="36576">
                    <a:solidFill>
                      <a:srgbClr val="FFFFFF"/>
                    </a:solidFill>
                  </a:tcPr>
                </a:tc>
              </a:tr>
              <a:tr h="365760">
                <a:tc>
                  <a:txBody>
                    <a:bodyPr/>
                    <a:lstStyle/>
                    <a:p>
                      <a:r>
                        <a:rPr sz="1200" b="0">
                          <a:solidFill>
                            <a:srgbClr val="0C111D"/>
                          </a:solidFill>
                          <a:latin typeface="Arial"/>
                        </a:rPr>
                        <a:t>Dự phòng rủi ro 15%</a:t>
                      </a:r>
                    </a:p>
                  </a:txBody>
                  <a:tcPr marT="36576" marB="36576">
                    <a:solidFill>
                      <a:srgbClr val="F5F5F4"/>
                    </a:solidFill>
                  </a:tcPr>
                </a:tc>
                <a:tc>
                  <a:txBody>
                    <a:bodyPr/>
                    <a:lstStyle/>
                    <a:p/>
                  </a:txBody>
                  <a:tcPr marT="36576" marB="36576">
                    <a:solidFill>
                      <a:srgbClr val="F5F5F4"/>
                    </a:solidFill>
                  </a:tcPr>
                </a:tc>
                <a:tc>
                  <a:txBody>
                    <a:bodyPr/>
                    <a:lstStyle/>
                    <a:p>
                      <a:r>
                        <a:rPr sz="1200" b="0">
                          <a:solidFill>
                            <a:srgbClr val="0C111D"/>
                          </a:solidFill>
                          <a:latin typeface="Arial"/>
                        </a:rPr>
                        <a:t>61.110.000 ₫</a:t>
                      </a:r>
                    </a:p>
                  </a:txBody>
                  <a:tcPr marT="36576" marB="36576">
                    <a:solidFill>
                      <a:srgbClr val="F5F5F4"/>
                    </a:solidFill>
                  </a:tcPr>
                </a:tc>
                <a:tc>
                  <a:txBody>
                    <a:bodyPr/>
                    <a:lstStyle/>
                    <a:p/>
                  </a:txBody>
                  <a:tcPr marT="36576" marB="36576">
                    <a:solidFill>
                      <a:srgbClr val="F5F5F4"/>
                    </a:solidFill>
                  </a:tcPr>
                </a:tc>
              </a:tr>
              <a:tr h="365760">
                <a:tc>
                  <a:txBody>
                    <a:bodyPr/>
                    <a:lstStyle/>
                    <a:p>
                      <a:r>
                        <a:rPr sz="1200" b="1">
                          <a:solidFill>
                            <a:srgbClr val="0C111D"/>
                          </a:solidFill>
                          <a:latin typeface="Arial"/>
                        </a:rPr>
                        <a:t>Tổng (đã gồm dự phòng)</a:t>
                      </a:r>
                    </a:p>
                  </a:txBody>
                  <a:tcPr marT="36576" marB="36576">
                    <a:solidFill>
                      <a:srgbClr val="FEF1E9"/>
                    </a:solidFill>
                  </a:tcPr>
                </a:tc>
                <a:tc>
                  <a:txBody>
                    <a:bodyPr/>
                    <a:lstStyle/>
                    <a:p>
                      <a:r>
                        <a:rPr sz="1200" b="1">
                          <a:solidFill>
                            <a:srgbClr val="0C111D"/>
                          </a:solidFill>
                          <a:latin typeface="Arial"/>
                        </a:rPr>
                        <a:t>132.0</a:t>
                      </a:r>
                    </a:p>
                  </a:txBody>
                  <a:tcPr marT="36576" marB="36576">
                    <a:solidFill>
                      <a:srgbClr val="FEF1E9"/>
                    </a:solidFill>
                  </a:tcPr>
                </a:tc>
                <a:tc>
                  <a:txBody>
                    <a:bodyPr/>
                    <a:lstStyle/>
                    <a:p>
                      <a:r>
                        <a:rPr sz="1200" b="1">
                          <a:solidFill>
                            <a:srgbClr val="0C111D"/>
                          </a:solidFill>
                          <a:latin typeface="Arial"/>
                        </a:rPr>
                        <a:t>468.510.000 ₫</a:t>
                      </a:r>
                    </a:p>
                  </a:txBody>
                  <a:tcPr marT="36576" marB="36576">
                    <a:solidFill>
                      <a:srgbClr val="FEF1E9"/>
                    </a:solidFill>
                  </a:tcPr>
                </a:tc>
                <a:tc>
                  <a:txBody>
                    <a:bodyPr/>
                    <a:lstStyle/>
                    <a:p>
                      <a:r>
                        <a:rPr sz="1200" b="1">
                          <a:solidFill>
                            <a:srgbClr val="0C111D"/>
                          </a:solidFill>
                          <a:latin typeface="Arial"/>
                        </a:rPr>
                        <a:t>355.178.000 ₫ – 585.638.000 ₫</a:t>
                      </a:r>
                    </a:p>
                  </a:txBody>
                  <a:tcPr marT="36576" marB="36576">
                    <a:solidFill>
                      <a:srgbClr val="FEF1E9"/>
                    </a:solidFill>
                  </a:tcPr>
                </a:tc>
              </a:tr>
            </a:tbl>
          </a:graphicData>
        </a:graphic>
      </p:graphicFrame>
      <p:sp>
        <p:nvSpPr>
          <p:cNvPr id="8" name="Rounded Rectangle 7"/>
          <p:cNvSpPr/>
          <p:nvPr/>
        </p:nvSpPr>
        <p:spPr>
          <a:xfrm>
            <a:off x="7955279" y="1325880"/>
            <a:ext cx="3520440" cy="1005840"/>
          </a:xfrm>
          <a:prstGeom prst="roundRect">
            <a:avLst>
              <a:gd name="adj" fmla="val 12000"/>
            </a:avLst>
          </a:prstGeom>
          <a:solidFill>
            <a:srgbClr val="FE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417320"/>
            <a:ext cx="3200400" cy="365760"/>
          </a:xfrm>
          <a:prstGeom prst="rect">
            <a:avLst/>
          </a:prstGeom>
          <a:noFill/>
        </p:spPr>
        <p:txBody>
          <a:bodyPr wrap="square">
            <a:spAutoFit/>
          </a:bodyPr>
          <a:lstStyle/>
          <a:p>
            <a:r>
              <a:rPr sz="1200" b="0">
                <a:solidFill>
                  <a:srgbClr val="6B7280"/>
                </a:solidFill>
                <a:latin typeface="Arial"/>
              </a:rPr>
              <a:t>Vận hành / tháng (ước tính)</a:t>
            </a:r>
          </a:p>
        </p:txBody>
      </p:sp>
      <p:sp>
        <p:nvSpPr>
          <p:cNvPr id="10" name="TextBox 9"/>
          <p:cNvSpPr txBox="1"/>
          <p:nvPr/>
        </p:nvSpPr>
        <p:spPr>
          <a:xfrm>
            <a:off x="8138160" y="1737360"/>
            <a:ext cx="3200400" cy="457200"/>
          </a:xfrm>
          <a:prstGeom prst="rect">
            <a:avLst/>
          </a:prstGeom>
          <a:noFill/>
        </p:spPr>
        <p:txBody>
          <a:bodyPr wrap="square">
            <a:spAutoFit/>
          </a:bodyPr>
          <a:lstStyle/>
          <a:p>
            <a:r>
              <a:rPr sz="2000" b="1">
                <a:solidFill>
                  <a:srgbClr val="F26F21"/>
                </a:solidFill>
                <a:latin typeface="Arial"/>
              </a:rPr>
              <a:t>15.000.000 ₫</a:t>
            </a:r>
          </a:p>
        </p:txBody>
      </p:sp>
      <p:sp>
        <p:nvSpPr>
          <p:cNvPr id="11" name="TextBox 10"/>
          <p:cNvSpPr txBox="1"/>
          <p:nvPr/>
        </p:nvSpPr>
        <p:spPr>
          <a:xfrm>
            <a:off x="7955279" y="2514600"/>
            <a:ext cx="3520440" cy="365760"/>
          </a:xfrm>
          <a:prstGeom prst="rect">
            <a:avLst/>
          </a:prstGeom>
          <a:noFill/>
        </p:spPr>
        <p:txBody>
          <a:bodyPr wrap="square">
            <a:spAutoFit/>
          </a:bodyPr>
          <a:lstStyle/>
          <a:p>
            <a:r>
              <a:rPr sz="1400" b="1">
                <a:solidFill>
                  <a:srgbClr val="F26F21"/>
                </a:solidFill>
                <a:latin typeface="Arial"/>
              </a:rPr>
              <a:t>Mốc thanh toán</a:t>
            </a:r>
          </a:p>
        </p:txBody>
      </p:sp>
      <p:sp>
        <p:nvSpPr>
          <p:cNvPr id="12" name="TextBox 11"/>
          <p:cNvSpPr txBox="1"/>
          <p:nvPr/>
        </p:nvSpPr>
        <p:spPr>
          <a:xfrm>
            <a:off x="7955279" y="2926080"/>
            <a:ext cx="3520440" cy="1828800"/>
          </a:xfrm>
          <a:prstGeom prst="rect">
            <a:avLst/>
          </a:prstGeom>
          <a:noFill/>
        </p:spPr>
        <p:txBody>
          <a:bodyPr wrap="square">
            <a:spAutoFit/>
          </a:bodyPr>
          <a:lstStyle/>
          <a:p>
            <a:pPr>
              <a:spcAft>
                <a:spcPts val="600"/>
              </a:spcAft>
            </a:pPr>
            <a:r>
              <a:rPr sz="1200" b="0">
                <a:solidFill>
                  <a:srgbClr val="0C111D"/>
                </a:solidFill>
                <a:latin typeface="Arial"/>
              </a:rPr>
              <a:t>•  Ký hợp đồng / kick-off: 30% · 140.553.000 ₫</a:t>
            </a:r>
          </a:p>
          <a:p>
            <a:pPr>
              <a:spcAft>
                <a:spcPts val="600"/>
              </a:spcAft>
            </a:pPr>
            <a:r>
              <a:rPr sz="1200" b="0">
                <a:solidFill>
                  <a:srgbClr val="0C111D"/>
                </a:solidFill>
                <a:latin typeface="Arial"/>
              </a:rPr>
              <a:t>•  Nghiệm thu MVP: 40% · 187.404.000 ₫</a:t>
            </a:r>
          </a:p>
          <a:p>
            <a:pPr>
              <a:spcAft>
                <a:spcPts val="600"/>
              </a:spcAft>
            </a:pPr>
            <a:r>
              <a:rPr sz="1200" b="0">
                <a:solidFill>
                  <a:srgbClr val="0C111D"/>
                </a:solidFill>
                <a:latin typeface="Arial"/>
              </a:rPr>
              <a:t>•  Go-live production: 30% · 140.553.000 ₫</a:t>
            </a:r>
          </a:p>
        </p:txBody>
      </p:sp>
      <p:sp>
        <p:nvSpPr>
          <p:cNvPr id="13" name="TextBox 12"/>
          <p:cNvSpPr txBox="1"/>
          <p:nvPr/>
        </p:nvSpPr>
        <p:spPr>
          <a:xfrm>
            <a:off x="685800" y="4846320"/>
            <a:ext cx="10789920" cy="1371600"/>
          </a:xfrm>
          <a:prstGeom prst="rect">
            <a:avLst/>
          </a:prstGeom>
          <a:noFill/>
        </p:spPr>
        <p:txBody>
          <a:bodyPr wrap="square">
            <a:spAutoFit/>
          </a:bodyPr>
          <a:lstStyle/>
          <a:p>
            <a:pPr>
              <a:spcAft>
                <a:spcPts val="600"/>
              </a:spcAft>
            </a:pPr>
            <a:r>
              <a:rPr sz="1000" b="0">
                <a:solidFill>
                  <a:srgbClr val="6B7280"/>
                </a:solidFill>
                <a:latin typeface="Arial"/>
              </a:rPr>
              <a:t>•  Mô hình hợp đồng: Trọn gói (Fixed price).</a:t>
            </a:r>
          </a:p>
          <a:p>
            <a:pPr>
              <a:spcAft>
                <a:spcPts val="600"/>
              </a:spcAft>
            </a:pPr>
            <a:r>
              <a:rPr sz="1000" b="0">
                <a:solidFill>
                  <a:srgbClr val="6B7280"/>
                </a:solidFill>
                <a:latin typeface="Arial"/>
              </a:rPr>
              <a:t>•  Đơn giá theo vai trò là số giả lập trong bảng đơn giá, cần thay bằng đơn giá thật.</a:t>
            </a:r>
          </a:p>
          <a:p>
            <a:pPr>
              <a:spcAft>
                <a:spcPts val="600"/>
              </a:spcAft>
            </a:pPr>
            <a:r>
              <a:rPr sz="1000" b="0">
                <a:solidFill>
                  <a:srgbClr val="6B7280"/>
                </a:solidFill>
                <a:latin typeface="Arial"/>
              </a:rPr>
              <a:t>•  Ngày công = WBS 132 (PM đã nằm trong WBS).</a:t>
            </a:r>
          </a:p>
          <a:p>
            <a:pPr>
              <a:spcAft>
                <a:spcPts val="600"/>
              </a:spcAft>
            </a:pPr>
            <a:r>
              <a:rPr sz="1000" b="0">
                <a:solidFill>
                  <a:srgbClr val="6B7280"/>
                </a:solidFill>
                <a:latin typeface="Arial"/>
              </a:rPr>
              <a:t>•  Tỉ lệ làm onsite 0% (đơn giá onsite cao hơn offshore).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Phương pháp, chất lượng &amp; điều khoản</a:t>
            </a:r>
          </a:p>
        </p:txBody>
      </p:sp>
      <p:sp>
        <p:nvSpPr>
          <p:cNvPr id="4" name="TextBox 3"/>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5" name="TextBox 4"/>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15</a:t>
            </a:r>
          </a:p>
        </p:txBody>
      </p:sp>
      <p:sp>
        <p:nvSpPr>
          <p:cNvPr id="6" name="Rounded Rectangle 5"/>
          <p:cNvSpPr/>
          <p:nvPr/>
        </p:nvSpPr>
        <p:spPr>
          <a:xfrm>
            <a:off x="685800" y="1325880"/>
            <a:ext cx="5166360" cy="2194560"/>
          </a:xfrm>
          <a:prstGeom prst="roundRect">
            <a:avLst>
              <a:gd name="adj" fmla="val 6000"/>
            </a:avLst>
          </a:prstGeom>
          <a:solidFill>
            <a:srgbClr val="F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25880"/>
            <a:ext cx="64008" cy="2194560"/>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08760"/>
            <a:ext cx="4709160" cy="411480"/>
          </a:xfrm>
          <a:prstGeom prst="rect">
            <a:avLst/>
          </a:prstGeom>
          <a:noFill/>
        </p:spPr>
        <p:txBody>
          <a:bodyPr wrap="square">
            <a:spAutoFit/>
          </a:bodyPr>
          <a:lstStyle/>
          <a:p>
            <a:r>
              <a:rPr sz="1600" b="1">
                <a:solidFill>
                  <a:srgbClr val="F26F21"/>
                </a:solidFill>
                <a:latin typeface="Arial"/>
              </a:rPr>
              <a:t>Phương pháp triển khai</a:t>
            </a:r>
          </a:p>
        </p:txBody>
      </p:sp>
      <p:sp>
        <p:nvSpPr>
          <p:cNvPr id="9" name="TextBox 8"/>
          <p:cNvSpPr txBox="1"/>
          <p:nvPr/>
        </p:nvSpPr>
        <p:spPr>
          <a:xfrm>
            <a:off x="960120" y="2011680"/>
            <a:ext cx="4709160" cy="1371600"/>
          </a:xfrm>
          <a:prstGeom prst="rect">
            <a:avLst/>
          </a:prstGeom>
          <a:noFill/>
        </p:spPr>
        <p:txBody>
          <a:bodyPr wrap="square">
            <a:spAutoFit/>
          </a:bodyPr>
          <a:lstStyle/>
          <a:p>
            <a:r>
              <a:rPr sz="1200" b="0">
                <a:solidFill>
                  <a:srgbClr val="0C111D"/>
                </a:solidFill>
                <a:latin typeface="Arial"/>
              </a:rPr>
              <a:t>Triển khai theo giai đoạn PoC → MVP → Production, mỗi giai đoạn có tiêu chí nghiệm thu rõ ràng.</a:t>
            </a:r>
          </a:p>
          <a:p>
            <a:r>
              <a:rPr sz="1200" b="0">
                <a:solidFill>
                  <a:srgbClr val="0C111D"/>
                </a:solidFill>
                <a:latin typeface="Arial"/>
              </a:rPr>
              <a:t>Làm việc theo sprint 2 tuần, demo định kỳ với khách hàng; đánh giá chất lượng AI bằng bộ test chuẩn.</a:t>
            </a:r>
          </a:p>
        </p:txBody>
      </p:sp>
      <p:sp>
        <p:nvSpPr>
          <p:cNvPr id="10" name="Rounded Rectangle 9"/>
          <p:cNvSpPr/>
          <p:nvPr/>
        </p:nvSpPr>
        <p:spPr>
          <a:xfrm>
            <a:off x="6080760" y="1325880"/>
            <a:ext cx="5166360" cy="2194560"/>
          </a:xfrm>
          <a:prstGeom prst="roundRect">
            <a:avLst>
              <a:gd name="adj" fmla="val 6000"/>
            </a:avLst>
          </a:prstGeom>
          <a:solidFill>
            <a:srgbClr val="F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80760" y="1325880"/>
            <a:ext cx="64008" cy="2194560"/>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508760"/>
            <a:ext cx="4709160" cy="411480"/>
          </a:xfrm>
          <a:prstGeom prst="rect">
            <a:avLst/>
          </a:prstGeom>
          <a:noFill/>
        </p:spPr>
        <p:txBody>
          <a:bodyPr wrap="square">
            <a:spAutoFit/>
          </a:bodyPr>
          <a:lstStyle/>
          <a:p>
            <a:r>
              <a:rPr sz="1600" b="1">
                <a:solidFill>
                  <a:srgbClr val="F26F21"/>
                </a:solidFill>
                <a:latin typeface="Arial"/>
              </a:rPr>
              <a:t>Bảo mật &amp; chất lượng</a:t>
            </a:r>
          </a:p>
        </p:txBody>
      </p:sp>
      <p:sp>
        <p:nvSpPr>
          <p:cNvPr id="13" name="TextBox 12"/>
          <p:cNvSpPr txBox="1"/>
          <p:nvPr/>
        </p:nvSpPr>
        <p:spPr>
          <a:xfrm>
            <a:off x="6355080" y="2011680"/>
            <a:ext cx="4709160" cy="1371600"/>
          </a:xfrm>
          <a:prstGeom prst="rect">
            <a:avLst/>
          </a:prstGeom>
          <a:noFill/>
        </p:spPr>
        <p:txBody>
          <a:bodyPr wrap="square">
            <a:spAutoFit/>
          </a:bodyPr>
          <a:lstStyle/>
          <a:p>
            <a:r>
              <a:rPr sz="1200" b="0">
                <a:solidFill>
                  <a:srgbClr val="0C111D"/>
                </a:solidFill>
                <a:latin typeface="Arial"/>
              </a:rPr>
              <a:t>Quy trình bảo mật thông tin và quản lý chất lượng theo tiêu chuẩn của công ty (nêu chứng chỉ thật tại đây).</a:t>
            </a:r>
          </a:p>
          <a:p>
            <a:r>
              <a:rPr sz="1200" b="0">
                <a:solidFill>
                  <a:srgbClr val="0C111D"/>
                </a:solidFill>
                <a:latin typeface="Arial"/>
              </a:rPr>
              <a:t>Dữ liệu cá nhân được ẩn danh trước khi xử lý; có thể triển khai on-premise theo yêu cầu.</a:t>
            </a:r>
          </a:p>
        </p:txBody>
      </p:sp>
      <p:sp>
        <p:nvSpPr>
          <p:cNvPr id="14" name="Rounded Rectangle 13"/>
          <p:cNvSpPr/>
          <p:nvPr/>
        </p:nvSpPr>
        <p:spPr>
          <a:xfrm>
            <a:off x="685800" y="3749039"/>
            <a:ext cx="5166360" cy="2194560"/>
          </a:xfrm>
          <a:prstGeom prst="roundRect">
            <a:avLst>
              <a:gd name="adj" fmla="val 6000"/>
            </a:avLst>
          </a:prstGeom>
          <a:solidFill>
            <a:srgbClr val="F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749039"/>
            <a:ext cx="64008" cy="2194560"/>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931919"/>
            <a:ext cx="4709160" cy="411480"/>
          </a:xfrm>
          <a:prstGeom prst="rect">
            <a:avLst/>
          </a:prstGeom>
          <a:noFill/>
        </p:spPr>
        <p:txBody>
          <a:bodyPr wrap="square">
            <a:spAutoFit/>
          </a:bodyPr>
          <a:lstStyle/>
          <a:p>
            <a:r>
              <a:rPr sz="1600" b="1">
                <a:solidFill>
                  <a:srgbClr val="F26F21"/>
                </a:solidFill>
                <a:latin typeface="Arial"/>
              </a:rPr>
              <a:t>Bảo hành &amp; hỗ trợ</a:t>
            </a:r>
          </a:p>
        </p:txBody>
      </p:sp>
      <p:sp>
        <p:nvSpPr>
          <p:cNvPr id="17" name="TextBox 16"/>
          <p:cNvSpPr txBox="1"/>
          <p:nvPr/>
        </p:nvSpPr>
        <p:spPr>
          <a:xfrm>
            <a:off x="960120" y="4434839"/>
            <a:ext cx="4709160" cy="1371600"/>
          </a:xfrm>
          <a:prstGeom prst="rect">
            <a:avLst/>
          </a:prstGeom>
          <a:noFill/>
        </p:spPr>
        <p:txBody>
          <a:bodyPr wrap="square">
            <a:spAutoFit/>
          </a:bodyPr>
          <a:lstStyle/>
          <a:p>
            <a:r>
              <a:rPr sz="1200" b="0">
                <a:solidFill>
                  <a:srgbClr val="0C111D"/>
                </a:solidFill>
                <a:latin typeface="Arial"/>
              </a:rPr>
              <a:t>Bảo hành lỗi 3 tháng sau nghiệm thu (số liệu mẫu). Gói vận hành và cải tiến mô hình được báo giá riêng.</a:t>
            </a:r>
          </a:p>
        </p:txBody>
      </p:sp>
      <p:sp>
        <p:nvSpPr>
          <p:cNvPr id="18" name="Rounded Rectangle 17"/>
          <p:cNvSpPr/>
          <p:nvPr/>
        </p:nvSpPr>
        <p:spPr>
          <a:xfrm>
            <a:off x="6080760" y="3749039"/>
            <a:ext cx="5166360" cy="2194560"/>
          </a:xfrm>
          <a:prstGeom prst="roundRect">
            <a:avLst>
              <a:gd name="adj" fmla="val 6000"/>
            </a:avLst>
          </a:prstGeom>
          <a:solidFill>
            <a:srgbClr val="F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80760" y="3749039"/>
            <a:ext cx="64008" cy="2194560"/>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3931919"/>
            <a:ext cx="4709160" cy="411480"/>
          </a:xfrm>
          <a:prstGeom prst="rect">
            <a:avLst/>
          </a:prstGeom>
          <a:noFill/>
        </p:spPr>
        <p:txBody>
          <a:bodyPr wrap="square">
            <a:spAutoFit/>
          </a:bodyPr>
          <a:lstStyle/>
          <a:p>
            <a:r>
              <a:rPr sz="1600" b="1">
                <a:solidFill>
                  <a:srgbClr val="F26F21"/>
                </a:solidFill>
                <a:latin typeface="Arial"/>
              </a:rPr>
              <a:t>Điều khoản &amp; phạm vi loại trừ</a:t>
            </a:r>
          </a:p>
        </p:txBody>
      </p:sp>
      <p:sp>
        <p:nvSpPr>
          <p:cNvPr id="21" name="TextBox 20"/>
          <p:cNvSpPr txBox="1"/>
          <p:nvPr/>
        </p:nvSpPr>
        <p:spPr>
          <a:xfrm>
            <a:off x="6355080" y="4434839"/>
            <a:ext cx="4709160" cy="1371600"/>
          </a:xfrm>
          <a:prstGeom prst="rect">
            <a:avLst/>
          </a:prstGeom>
          <a:noFill/>
        </p:spPr>
        <p:txBody>
          <a:bodyPr wrap="square">
            <a:spAutoFit/>
          </a:bodyPr>
          <a:lstStyle/>
          <a:p>
            <a:r>
              <a:rPr sz="1200" b="0">
                <a:solidFill>
                  <a:srgbClr val="0C111D"/>
                </a:solidFill>
                <a:latin typeface="Arial"/>
              </a:rPr>
              <a:t>Báo giá có hiệu lực 30 ngày, chưa gồm VAT, chi phí bản quyền phần mềm, phần cứng và hạ tầng của khách hàng.</a:t>
            </a:r>
          </a:p>
          <a:p>
            <a:r>
              <a:rPr sz="1200" b="0">
                <a:solidFill>
                  <a:srgbClr val="0C111D"/>
                </a:solidFill>
                <a:latin typeface="Arial"/>
              </a:rPr>
              <a:t>Phạm vi ngoài các hạng mục nêu trong hồ sơ sẽ được thống nhất bằng yêu cầu thay đổi (change request).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Giả định &amp; câu hỏi cần khách xác nhận</a:t>
            </a:r>
          </a:p>
        </p:txBody>
      </p:sp>
      <p:sp>
        <p:nvSpPr>
          <p:cNvPr id="4" name="TextBox 3"/>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5" name="TextBox 4"/>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16</a:t>
            </a:r>
          </a:p>
        </p:txBody>
      </p:sp>
      <p:sp>
        <p:nvSpPr>
          <p:cNvPr id="6" name="TextBox 5"/>
          <p:cNvSpPr txBox="1"/>
          <p:nvPr/>
        </p:nvSpPr>
        <p:spPr>
          <a:xfrm>
            <a:off x="685800" y="1280160"/>
            <a:ext cx="5120640" cy="365760"/>
          </a:xfrm>
          <a:prstGeom prst="rect">
            <a:avLst/>
          </a:prstGeom>
          <a:noFill/>
        </p:spPr>
        <p:txBody>
          <a:bodyPr wrap="square">
            <a:spAutoFit/>
          </a:bodyPr>
          <a:lstStyle/>
          <a:p>
            <a:r>
              <a:rPr sz="1700" b="1">
                <a:solidFill>
                  <a:srgbClr val="F26F21"/>
                </a:solidFill>
                <a:latin typeface="Arial"/>
              </a:rPr>
              <a:t>Giả định</a:t>
            </a:r>
          </a:p>
        </p:txBody>
      </p:sp>
      <p:sp>
        <p:nvSpPr>
          <p:cNvPr id="7" name="TextBox 6"/>
          <p:cNvSpPr txBox="1"/>
          <p:nvPr/>
        </p:nvSpPr>
        <p:spPr>
          <a:xfrm>
            <a:off x="685800" y="1737360"/>
            <a:ext cx="5120640" cy="4389120"/>
          </a:xfrm>
          <a:prstGeom prst="rect">
            <a:avLst/>
          </a:prstGeom>
          <a:noFill/>
        </p:spPr>
        <p:txBody>
          <a:bodyPr wrap="square">
            <a:spAutoFit/>
          </a:bodyPr>
          <a:lstStyle/>
          <a:p>
            <a:pPr>
              <a:spcAft>
                <a:spcPts val="600"/>
              </a:spcAft>
            </a:pPr>
            <a:r>
              <a:rPr sz="1300" b="0">
                <a:solidFill>
                  <a:srgbClr val="0C111D"/>
                </a:solidFill>
                <a:latin typeface="Arial"/>
              </a:rPr>
              <a:t>•  Văn bản ở dạng text, không phải bản scan cần OCR</a:t>
            </a:r>
          </a:p>
        </p:txBody>
      </p:sp>
      <p:sp>
        <p:nvSpPr>
          <p:cNvPr id="8" name="TextBox 7"/>
          <p:cNvSpPr txBox="1"/>
          <p:nvPr/>
        </p:nvSpPr>
        <p:spPr>
          <a:xfrm>
            <a:off x="6309360" y="1280160"/>
            <a:ext cx="5120640" cy="365760"/>
          </a:xfrm>
          <a:prstGeom prst="rect">
            <a:avLst/>
          </a:prstGeom>
          <a:noFill/>
        </p:spPr>
        <p:txBody>
          <a:bodyPr wrap="square">
            <a:spAutoFit/>
          </a:bodyPr>
          <a:lstStyle/>
          <a:p>
            <a:r>
              <a:rPr sz="1700" b="1">
                <a:solidFill>
                  <a:srgbClr val="F26F21"/>
                </a:solidFill>
                <a:latin typeface="Arial"/>
              </a:rPr>
              <a:t>Câu hỏi mở</a:t>
            </a:r>
          </a:p>
        </p:txBody>
      </p:sp>
      <p:sp>
        <p:nvSpPr>
          <p:cNvPr id="9" name="TextBox 8"/>
          <p:cNvSpPr txBox="1"/>
          <p:nvPr/>
        </p:nvSpPr>
        <p:spPr>
          <a:xfrm>
            <a:off x="6309360" y="1737360"/>
            <a:ext cx="5120640" cy="4389120"/>
          </a:xfrm>
          <a:prstGeom prst="rect">
            <a:avLst/>
          </a:prstGeom>
          <a:noFill/>
        </p:spPr>
        <p:txBody>
          <a:bodyPr wrap="square">
            <a:spAutoFit/>
          </a:bodyPr>
          <a:lstStyle/>
          <a:p>
            <a:pPr>
              <a:spcAft>
                <a:spcPts val="600"/>
              </a:spcAft>
            </a:pPr>
            <a:r>
              <a:rPr sz="1300" b="0">
                <a:solidFill>
                  <a:srgbClr val="0C111D"/>
                </a:solidFill>
                <a:latin typeface="Arial"/>
              </a:rPr>
              <a:t>•  Các văn bản quy định được cập nhật bao lâu một lần và ai là người cập nhật?</a:t>
            </a:r>
          </a:p>
          <a:p>
            <a:pPr>
              <a:spcAft>
                <a:spcPts val="600"/>
              </a:spcAft>
            </a:pPr>
            <a:r>
              <a:rPr sz="1300" b="0">
                <a:solidFill>
                  <a:srgbClr val="0C111D"/>
                </a:solidFill>
                <a:latin typeface="Arial"/>
              </a:rPr>
              <a:t>•  Câu trả lời có bắt buộc kèm trích dẫn điều khoản và số trang không?</a:t>
            </a:r>
          </a:p>
          <a:p>
            <a:pPr>
              <a:spcAft>
                <a:spcPts val="600"/>
              </a:spcAft>
            </a:pPr>
            <a:r>
              <a:rPr sz="1300" b="0">
                <a:solidFill>
                  <a:srgbClr val="0C111D"/>
                </a:solidFill>
                <a:latin typeface="Arial"/>
              </a:rPr>
              <a:t>•  Công ty đang dùng hệ thống đăng nhập tập trung (SSO) nào?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82296" cy="566928"/>
          </a:xfrm>
          <a:prstGeom prst="rect">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515600" cy="548640"/>
          </a:xfrm>
          <a:prstGeom prst="rect">
            <a:avLst/>
          </a:prstGeom>
          <a:noFill/>
        </p:spPr>
        <p:txBody>
          <a:bodyPr wrap="square">
            <a:spAutoFit/>
          </a:bodyPr>
          <a:lstStyle/>
          <a:p>
            <a:r>
              <a:rPr sz="2600" b="1">
                <a:solidFill>
                  <a:srgbClr val="0C111D"/>
                </a:solidFill>
                <a:latin typeface="Arial"/>
              </a:rPr>
              <a:t>Bước tiếp theo</a:t>
            </a:r>
          </a:p>
        </p:txBody>
      </p:sp>
      <p:sp>
        <p:nvSpPr>
          <p:cNvPr id="4" name="TextBox 3"/>
          <p:cNvSpPr txBox="1"/>
          <p:nvPr/>
        </p:nvSpPr>
        <p:spPr>
          <a:xfrm>
            <a:off x="676656" y="822960"/>
            <a:ext cx="10515600" cy="365760"/>
          </a:xfrm>
          <a:prstGeom prst="rect">
            <a:avLst/>
          </a:prstGeom>
          <a:noFill/>
        </p:spPr>
        <p:txBody>
          <a:bodyPr wrap="square">
            <a:spAutoFit/>
          </a:bodyPr>
          <a:lstStyle/>
          <a:p>
            <a:r>
              <a:rPr sz="1300" b="0">
                <a:solidFill>
                  <a:srgbClr val="6B7280"/>
                </a:solidFill>
                <a:latin typeface="Arial"/>
              </a:rPr>
              <a:t>Triển khai qua PoC</a:t>
            </a:r>
          </a:p>
        </p:txBody>
      </p:sp>
      <p:sp>
        <p:nvSpPr>
          <p:cNvPr id="5" name="TextBox 4"/>
          <p:cNvSpPr txBox="1"/>
          <p:nvPr/>
        </p:nvSpPr>
        <p:spPr>
          <a:xfrm>
            <a:off x="457200" y="6400800"/>
            <a:ext cx="9144000" cy="274320"/>
          </a:xfrm>
          <a:prstGeom prst="rect">
            <a:avLst/>
          </a:prstGeom>
          <a:noFill/>
        </p:spPr>
        <p:txBody>
          <a:bodyPr wrap="square">
            <a:spAutoFit/>
          </a:bodyPr>
          <a:lstStyle/>
          <a:p>
            <a:r>
              <a:rPr sz="900" b="0">
                <a:solidFill>
                  <a:srgbClr val="6B7280"/>
                </a:solidFill>
                <a:latin typeface="Arial"/>
              </a:rPr>
              <a:t>Đề xuất sơ bộ: Trợ lý hỏi đáp quy định nội bộ</a:t>
            </a:r>
          </a:p>
        </p:txBody>
      </p:sp>
      <p:sp>
        <p:nvSpPr>
          <p:cNvPr id="6" name="TextBox 5"/>
          <p:cNvSpPr txBox="1"/>
          <p:nvPr/>
        </p:nvSpPr>
        <p:spPr>
          <a:xfrm>
            <a:off x="11155680" y="6400800"/>
            <a:ext cx="640080" cy="274320"/>
          </a:xfrm>
          <a:prstGeom prst="rect">
            <a:avLst/>
          </a:prstGeom>
          <a:noFill/>
        </p:spPr>
        <p:txBody>
          <a:bodyPr wrap="square">
            <a:spAutoFit/>
          </a:bodyPr>
          <a:lstStyle/>
          <a:p>
            <a:pPr algn="r"/>
            <a:r>
              <a:rPr sz="900" b="0">
                <a:solidFill>
                  <a:srgbClr val="6B7280"/>
                </a:solidFill>
                <a:latin typeface="Arial"/>
              </a:rPr>
              <a:t>17</a:t>
            </a:r>
          </a:p>
        </p:txBody>
      </p:sp>
      <p:sp>
        <p:nvSpPr>
          <p:cNvPr id="7" name="Oval 6"/>
          <p:cNvSpPr/>
          <p:nvPr/>
        </p:nvSpPr>
        <p:spPr>
          <a:xfrm>
            <a:off x="822960" y="1554480"/>
            <a:ext cx="731520" cy="731520"/>
          </a:xfrm>
          <a:prstGeom prst="ellipse">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Arial"/>
              </a:rPr>
              <a:t>1</a:t>
            </a:r>
          </a:p>
        </p:txBody>
      </p:sp>
      <p:sp>
        <p:nvSpPr>
          <p:cNvPr id="8" name="TextBox 7"/>
          <p:cNvSpPr txBox="1"/>
          <p:nvPr/>
        </p:nvSpPr>
        <p:spPr>
          <a:xfrm>
            <a:off x="1828800" y="1691640"/>
            <a:ext cx="9144000" cy="548640"/>
          </a:xfrm>
          <a:prstGeom prst="rect">
            <a:avLst/>
          </a:prstGeom>
          <a:noFill/>
        </p:spPr>
        <p:txBody>
          <a:bodyPr wrap="square">
            <a:spAutoFit/>
          </a:bodyPr>
          <a:lstStyle/>
          <a:p>
            <a:r>
              <a:rPr sz="2000" b="1">
                <a:solidFill>
                  <a:srgbClr val="0C111D"/>
                </a:solidFill>
                <a:latin typeface="Arial"/>
              </a:rPr>
              <a:t>Thống nhất mục tiêu và tiêu chí đánh giá PoC</a:t>
            </a:r>
          </a:p>
        </p:txBody>
      </p:sp>
      <p:sp>
        <p:nvSpPr>
          <p:cNvPr id="9" name="Oval 8"/>
          <p:cNvSpPr/>
          <p:nvPr/>
        </p:nvSpPr>
        <p:spPr>
          <a:xfrm>
            <a:off x="822960" y="2926080"/>
            <a:ext cx="731520" cy="731520"/>
          </a:xfrm>
          <a:prstGeom prst="ellipse">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Arial"/>
              </a:rPr>
              <a:t>2</a:t>
            </a:r>
          </a:p>
        </p:txBody>
      </p:sp>
      <p:sp>
        <p:nvSpPr>
          <p:cNvPr id="10" name="TextBox 9"/>
          <p:cNvSpPr txBox="1"/>
          <p:nvPr/>
        </p:nvSpPr>
        <p:spPr>
          <a:xfrm>
            <a:off x="1828800" y="3063240"/>
            <a:ext cx="9144000" cy="548640"/>
          </a:xfrm>
          <a:prstGeom prst="rect">
            <a:avLst/>
          </a:prstGeom>
          <a:noFill/>
        </p:spPr>
        <p:txBody>
          <a:bodyPr wrap="square">
            <a:spAutoFit/>
          </a:bodyPr>
          <a:lstStyle/>
          <a:p>
            <a:r>
              <a:rPr sz="2000" b="1">
                <a:solidFill>
                  <a:srgbClr val="0C111D"/>
                </a:solidFill>
                <a:latin typeface="Arial"/>
              </a:rPr>
              <a:t>Khách cung cấp dữ liệu mẫu đại diện</a:t>
            </a:r>
          </a:p>
        </p:txBody>
      </p:sp>
      <p:sp>
        <p:nvSpPr>
          <p:cNvPr id="11" name="Oval 10"/>
          <p:cNvSpPr/>
          <p:nvPr/>
        </p:nvSpPr>
        <p:spPr>
          <a:xfrm>
            <a:off x="822960" y="4297680"/>
            <a:ext cx="731520" cy="731520"/>
          </a:xfrm>
          <a:prstGeom prst="ellipse">
            <a:avLst/>
          </a:prstGeom>
          <a:solidFill>
            <a:srgbClr val="F2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Arial"/>
              </a:rPr>
              <a:t>3</a:t>
            </a:r>
          </a:p>
        </p:txBody>
      </p:sp>
      <p:sp>
        <p:nvSpPr>
          <p:cNvPr id="12" name="TextBox 11"/>
          <p:cNvSpPr txBox="1"/>
          <p:nvPr/>
        </p:nvSpPr>
        <p:spPr>
          <a:xfrm>
            <a:off x="1828800" y="4434840"/>
            <a:ext cx="9144000" cy="548640"/>
          </a:xfrm>
          <a:prstGeom prst="rect">
            <a:avLst/>
          </a:prstGeom>
          <a:noFill/>
        </p:spPr>
        <p:txBody>
          <a:bodyPr wrap="square">
            <a:spAutoFit/>
          </a:bodyPr>
          <a:lstStyle/>
          <a:p>
            <a:r>
              <a:rPr sz="2000" b="1">
                <a:solidFill>
                  <a:srgbClr val="0C111D"/>
                </a:solidFill>
                <a:latin typeface="Arial"/>
              </a:rPr>
              <a:t>Chạy PoC, đánh giá kết quả rồi quyết định MVP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